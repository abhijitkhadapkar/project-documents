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68" r:id="rId5"/>
    <p:sldId id="259" r:id="rId6"/>
    <p:sldId id="269" r:id="rId7"/>
    <p:sldId id="260" r:id="rId8"/>
    <p:sldId id="261" r:id="rId9"/>
    <p:sldId id="262" r:id="rId10"/>
    <p:sldId id="263" r:id="rId11"/>
    <p:sldId id="264" r:id="rId12"/>
    <p:sldId id="271" r:id="rId13"/>
    <p:sldId id="265" r:id="rId14"/>
    <p:sldId id="267" r:id="rId15"/>
    <p:sldId id="270" r:id="rId16"/>
    <p:sldId id="26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5A30EE-A2DE-4EEC-B716-504F8B3EB77E}"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en-IN"/>
        </a:p>
      </dgm:t>
    </dgm:pt>
    <dgm:pt modelId="{A124AAEE-F6E4-4FB9-A513-F0028CA86607}">
      <dgm:prSet phldrT="[Text]"/>
      <dgm:spPr/>
      <dgm:t>
        <a:bodyPr/>
        <a:lstStyle/>
        <a:p>
          <a:r>
            <a:rPr lang="en-IN" dirty="0"/>
            <a:t>Digital Transformation</a:t>
          </a:r>
        </a:p>
      </dgm:t>
    </dgm:pt>
    <dgm:pt modelId="{A762F38A-015B-4DE4-A112-3EE0096CC69B}" type="parTrans" cxnId="{E1258159-DE85-4902-8123-DAA6A6597955}">
      <dgm:prSet/>
      <dgm:spPr/>
      <dgm:t>
        <a:bodyPr/>
        <a:lstStyle/>
        <a:p>
          <a:endParaRPr lang="en-IN"/>
        </a:p>
      </dgm:t>
    </dgm:pt>
    <dgm:pt modelId="{7BEA9FDF-9803-4702-A1F0-1AE71B4B8969}" type="sibTrans" cxnId="{E1258159-DE85-4902-8123-DAA6A6597955}">
      <dgm:prSet/>
      <dgm:spPr/>
      <dgm:t>
        <a:bodyPr/>
        <a:lstStyle/>
        <a:p>
          <a:endParaRPr lang="en-IN"/>
        </a:p>
      </dgm:t>
    </dgm:pt>
    <dgm:pt modelId="{C92C9F48-DDCF-41C0-82B8-D4E7C6FFA053}">
      <dgm:prSet phldrT="[Text]"/>
      <dgm:spPr/>
      <dgm:t>
        <a:bodyPr/>
        <a:lstStyle/>
        <a:p>
          <a:r>
            <a:rPr lang="en-IN"/>
            <a:t>Define Scope and Objective</a:t>
          </a:r>
        </a:p>
      </dgm:t>
    </dgm:pt>
    <dgm:pt modelId="{E4C9DC00-CA35-4823-B0C7-27EFD04A7353}" type="parTrans" cxnId="{39C4DA61-A1C9-4113-A7E0-DE274810C578}">
      <dgm:prSet/>
      <dgm:spPr/>
      <dgm:t>
        <a:bodyPr/>
        <a:lstStyle/>
        <a:p>
          <a:endParaRPr lang="en-IN"/>
        </a:p>
      </dgm:t>
    </dgm:pt>
    <dgm:pt modelId="{184BFB56-96EC-4EF1-8B82-CAC2880CC9E0}" type="sibTrans" cxnId="{39C4DA61-A1C9-4113-A7E0-DE274810C578}">
      <dgm:prSet/>
      <dgm:spPr/>
      <dgm:t>
        <a:bodyPr/>
        <a:lstStyle/>
        <a:p>
          <a:endParaRPr lang="en-IN"/>
        </a:p>
      </dgm:t>
    </dgm:pt>
    <dgm:pt modelId="{1FBE4A65-84FC-4448-90FD-2A9127F76FDF}">
      <dgm:prSet phldrT="[Text]"/>
      <dgm:spPr/>
      <dgm:t>
        <a:bodyPr/>
        <a:lstStyle/>
        <a:p>
          <a:r>
            <a:rPr lang="en-IN" dirty="0"/>
            <a:t>Select Tech Stack , Architecture, OCR methods for Data extraction</a:t>
          </a:r>
        </a:p>
        <a:p>
          <a:endParaRPr lang="en-IN" dirty="0"/>
        </a:p>
      </dgm:t>
    </dgm:pt>
    <dgm:pt modelId="{37F89026-3BA8-45BB-A1BB-A3291606B6F4}" type="parTrans" cxnId="{92234207-ABE1-4EDE-92B3-891D4F08148D}">
      <dgm:prSet/>
      <dgm:spPr/>
      <dgm:t>
        <a:bodyPr/>
        <a:lstStyle/>
        <a:p>
          <a:endParaRPr lang="en-IN"/>
        </a:p>
      </dgm:t>
    </dgm:pt>
    <dgm:pt modelId="{C3858E8F-8FE7-4317-8396-649E694EBB8F}" type="sibTrans" cxnId="{92234207-ABE1-4EDE-92B3-891D4F08148D}">
      <dgm:prSet/>
      <dgm:spPr/>
      <dgm:t>
        <a:bodyPr/>
        <a:lstStyle/>
        <a:p>
          <a:endParaRPr lang="en-IN"/>
        </a:p>
      </dgm:t>
    </dgm:pt>
    <dgm:pt modelId="{4122CF5B-6E26-450E-9582-9856099658F4}">
      <dgm:prSet phldrT="[Text]"/>
      <dgm:spPr/>
      <dgm:t>
        <a:bodyPr/>
        <a:lstStyle/>
        <a:p>
          <a:r>
            <a:rPr lang="en-IN"/>
            <a:t>UI/UX</a:t>
          </a:r>
        </a:p>
      </dgm:t>
    </dgm:pt>
    <dgm:pt modelId="{9E70C68E-1E16-4442-B994-51A45214FB66}" type="parTrans" cxnId="{D355CC7A-C456-4121-A911-9C35FDC310BA}">
      <dgm:prSet/>
      <dgm:spPr/>
      <dgm:t>
        <a:bodyPr/>
        <a:lstStyle/>
        <a:p>
          <a:endParaRPr lang="en-IN"/>
        </a:p>
      </dgm:t>
    </dgm:pt>
    <dgm:pt modelId="{01F53C50-E41E-41F6-AF31-51500E5B09DA}" type="sibTrans" cxnId="{D355CC7A-C456-4121-A911-9C35FDC310BA}">
      <dgm:prSet/>
      <dgm:spPr/>
      <dgm:t>
        <a:bodyPr/>
        <a:lstStyle/>
        <a:p>
          <a:endParaRPr lang="en-IN"/>
        </a:p>
      </dgm:t>
    </dgm:pt>
    <dgm:pt modelId="{1A3B28DD-6095-4211-99F9-9B23050EF216}">
      <dgm:prSet phldrT="[Text]"/>
      <dgm:spPr/>
      <dgm:t>
        <a:bodyPr/>
        <a:lstStyle/>
        <a:p>
          <a:r>
            <a:rPr lang="en-IN" dirty="0"/>
            <a:t>Develop MVP( Sprint and Review , includes client feedback)</a:t>
          </a:r>
        </a:p>
        <a:p>
          <a:endParaRPr lang="en-IN" dirty="0"/>
        </a:p>
      </dgm:t>
    </dgm:pt>
    <dgm:pt modelId="{ECB77425-580B-4E35-BC1F-F5A2C9A9A41A}" type="parTrans" cxnId="{70270B2A-FB95-4F60-97AE-51FBA6878593}">
      <dgm:prSet/>
      <dgm:spPr/>
      <dgm:t>
        <a:bodyPr/>
        <a:lstStyle/>
        <a:p>
          <a:endParaRPr lang="en-IN"/>
        </a:p>
      </dgm:t>
    </dgm:pt>
    <dgm:pt modelId="{7732E8AB-7321-48A6-B5CF-D733FC42FF11}" type="sibTrans" cxnId="{70270B2A-FB95-4F60-97AE-51FBA6878593}">
      <dgm:prSet/>
      <dgm:spPr/>
      <dgm:t>
        <a:bodyPr/>
        <a:lstStyle/>
        <a:p>
          <a:endParaRPr lang="en-IN"/>
        </a:p>
      </dgm:t>
    </dgm:pt>
    <dgm:pt modelId="{3FB32B43-1FCA-410F-9AFA-DF34CC523A54}">
      <dgm:prSet phldrT="[Text]"/>
      <dgm:spPr/>
      <dgm:t>
        <a:bodyPr/>
        <a:lstStyle/>
        <a:p>
          <a:r>
            <a:rPr lang="en-IN" dirty="0" err="1"/>
            <a:t>Thirdparty</a:t>
          </a:r>
          <a:r>
            <a:rPr lang="en-IN" dirty="0"/>
            <a:t> tools Integration( OCR )</a:t>
          </a:r>
        </a:p>
      </dgm:t>
    </dgm:pt>
    <dgm:pt modelId="{4A400DFA-6CA7-4E9B-BDB0-8F0F7431E454}" type="parTrans" cxnId="{478AFBC0-6E4B-4412-A261-63D4E09D8A54}">
      <dgm:prSet/>
      <dgm:spPr/>
      <dgm:t>
        <a:bodyPr/>
        <a:lstStyle/>
        <a:p>
          <a:endParaRPr lang="en-IN"/>
        </a:p>
      </dgm:t>
    </dgm:pt>
    <dgm:pt modelId="{88566804-5A04-41CA-9A90-4F734328B8B8}" type="sibTrans" cxnId="{478AFBC0-6E4B-4412-A261-63D4E09D8A54}">
      <dgm:prSet/>
      <dgm:spPr/>
      <dgm:t>
        <a:bodyPr/>
        <a:lstStyle/>
        <a:p>
          <a:endParaRPr lang="en-IN"/>
        </a:p>
      </dgm:t>
    </dgm:pt>
    <dgm:pt modelId="{5763A456-C7DE-4F01-945B-17C92755102D}">
      <dgm:prSet phldrT="[Text]"/>
      <dgm:spPr/>
      <dgm:t>
        <a:bodyPr/>
        <a:lstStyle/>
        <a:p>
          <a:r>
            <a:rPr lang="en-IN"/>
            <a:t>Testing and UAT</a:t>
          </a:r>
        </a:p>
      </dgm:t>
    </dgm:pt>
    <dgm:pt modelId="{67036E9A-0DEE-4342-9A31-1F4F480BBA64}" type="parTrans" cxnId="{3E3FDD6D-EBAC-44FD-AF87-C7A29D5BC6D3}">
      <dgm:prSet/>
      <dgm:spPr/>
      <dgm:t>
        <a:bodyPr/>
        <a:lstStyle/>
        <a:p>
          <a:endParaRPr lang="en-IN"/>
        </a:p>
      </dgm:t>
    </dgm:pt>
    <dgm:pt modelId="{9E355288-247A-4827-B9B1-385D4D21A91F}" type="sibTrans" cxnId="{3E3FDD6D-EBAC-44FD-AF87-C7A29D5BC6D3}">
      <dgm:prSet/>
      <dgm:spPr/>
      <dgm:t>
        <a:bodyPr/>
        <a:lstStyle/>
        <a:p>
          <a:endParaRPr lang="en-IN"/>
        </a:p>
      </dgm:t>
    </dgm:pt>
    <dgm:pt modelId="{13A6ED41-B880-42B4-86A1-0EB5DDD8C1EF}">
      <dgm:prSet phldrT="[Text]"/>
      <dgm:spPr/>
      <dgm:t>
        <a:bodyPr/>
        <a:lstStyle/>
        <a:p>
          <a:r>
            <a:rPr lang="en-IN"/>
            <a:t>Deployment</a:t>
          </a:r>
        </a:p>
      </dgm:t>
    </dgm:pt>
    <dgm:pt modelId="{0BE9B7E2-57D5-4308-943D-056A0D119DBE}" type="parTrans" cxnId="{6047C25F-100E-4011-A945-813E181F73E0}">
      <dgm:prSet/>
      <dgm:spPr/>
      <dgm:t>
        <a:bodyPr/>
        <a:lstStyle/>
        <a:p>
          <a:endParaRPr lang="en-IN"/>
        </a:p>
      </dgm:t>
    </dgm:pt>
    <dgm:pt modelId="{AB642EDA-DADF-4A8D-B421-FB29ACE4E812}" type="sibTrans" cxnId="{6047C25F-100E-4011-A945-813E181F73E0}">
      <dgm:prSet/>
      <dgm:spPr/>
      <dgm:t>
        <a:bodyPr/>
        <a:lstStyle/>
        <a:p>
          <a:endParaRPr lang="en-IN"/>
        </a:p>
      </dgm:t>
    </dgm:pt>
    <dgm:pt modelId="{3F72D79A-990B-42C3-9763-B3B0372F84D5}">
      <dgm:prSet phldrT="[Text]"/>
      <dgm:spPr/>
      <dgm:t>
        <a:bodyPr/>
        <a:lstStyle/>
        <a:p>
          <a:r>
            <a:rPr lang="en-IN"/>
            <a:t>Monitoring and Maintenence</a:t>
          </a:r>
        </a:p>
      </dgm:t>
    </dgm:pt>
    <dgm:pt modelId="{C39AB7B6-2DF1-4B7A-8BA5-5A41267809FF}" type="parTrans" cxnId="{87531CC8-4F0A-4B27-8102-D61D0E703203}">
      <dgm:prSet/>
      <dgm:spPr/>
      <dgm:t>
        <a:bodyPr/>
        <a:lstStyle/>
        <a:p>
          <a:endParaRPr lang="en-IN"/>
        </a:p>
      </dgm:t>
    </dgm:pt>
    <dgm:pt modelId="{AAC94962-69C2-4DD8-BE5B-D69834A8F1D9}" type="sibTrans" cxnId="{87531CC8-4F0A-4B27-8102-D61D0E703203}">
      <dgm:prSet/>
      <dgm:spPr/>
      <dgm:t>
        <a:bodyPr/>
        <a:lstStyle/>
        <a:p>
          <a:endParaRPr lang="en-IN"/>
        </a:p>
      </dgm:t>
    </dgm:pt>
    <dgm:pt modelId="{DA6C6741-1890-42D9-B1EE-9BF96992F013}" type="pres">
      <dgm:prSet presAssocID="{F25A30EE-A2DE-4EEC-B716-504F8B3EB77E}" presName="Name0" presStyleCnt="0">
        <dgm:presLayoutVars>
          <dgm:dir/>
          <dgm:resizeHandles/>
        </dgm:presLayoutVars>
      </dgm:prSet>
      <dgm:spPr/>
    </dgm:pt>
    <dgm:pt modelId="{EDE5E354-E8E0-4E24-9CD4-EE5CDA9FA713}" type="pres">
      <dgm:prSet presAssocID="{A124AAEE-F6E4-4FB9-A513-F0028CA86607}" presName="compNode" presStyleCnt="0"/>
      <dgm:spPr/>
    </dgm:pt>
    <dgm:pt modelId="{E21D8103-47E8-4A37-8EB9-BE93DEB76268}" type="pres">
      <dgm:prSet presAssocID="{A124AAEE-F6E4-4FB9-A513-F0028CA86607}" presName="dummyConnPt" presStyleCnt="0"/>
      <dgm:spPr/>
    </dgm:pt>
    <dgm:pt modelId="{06477257-F205-4138-BF51-24BC65266399}" type="pres">
      <dgm:prSet presAssocID="{A124AAEE-F6E4-4FB9-A513-F0028CA86607}" presName="node" presStyleLbl="node1" presStyleIdx="0" presStyleCnt="9">
        <dgm:presLayoutVars>
          <dgm:bulletEnabled val="1"/>
        </dgm:presLayoutVars>
      </dgm:prSet>
      <dgm:spPr/>
    </dgm:pt>
    <dgm:pt modelId="{DD459ACA-DF57-4334-950E-D91A9F933FBA}" type="pres">
      <dgm:prSet presAssocID="{7BEA9FDF-9803-4702-A1F0-1AE71B4B8969}" presName="sibTrans" presStyleLbl="bgSibTrans2D1" presStyleIdx="0" presStyleCnt="8"/>
      <dgm:spPr/>
    </dgm:pt>
    <dgm:pt modelId="{28D641B4-D0C9-4A63-BD8F-E8E24E61BCD0}" type="pres">
      <dgm:prSet presAssocID="{C92C9F48-DDCF-41C0-82B8-D4E7C6FFA053}" presName="compNode" presStyleCnt="0"/>
      <dgm:spPr/>
    </dgm:pt>
    <dgm:pt modelId="{5B5DDD76-250E-40F2-954F-47727D2D20F0}" type="pres">
      <dgm:prSet presAssocID="{C92C9F48-DDCF-41C0-82B8-D4E7C6FFA053}" presName="dummyConnPt" presStyleCnt="0"/>
      <dgm:spPr/>
    </dgm:pt>
    <dgm:pt modelId="{29047290-B38F-412D-8B84-764A98F6AE1E}" type="pres">
      <dgm:prSet presAssocID="{C92C9F48-DDCF-41C0-82B8-D4E7C6FFA053}" presName="node" presStyleLbl="node1" presStyleIdx="1" presStyleCnt="9">
        <dgm:presLayoutVars>
          <dgm:bulletEnabled val="1"/>
        </dgm:presLayoutVars>
      </dgm:prSet>
      <dgm:spPr/>
    </dgm:pt>
    <dgm:pt modelId="{90605D77-9913-493B-B25D-D79A9A7C03DE}" type="pres">
      <dgm:prSet presAssocID="{184BFB56-96EC-4EF1-8B82-CAC2880CC9E0}" presName="sibTrans" presStyleLbl="bgSibTrans2D1" presStyleIdx="1" presStyleCnt="8"/>
      <dgm:spPr/>
    </dgm:pt>
    <dgm:pt modelId="{DC195961-36CA-4C45-A4FA-271DA51AA27B}" type="pres">
      <dgm:prSet presAssocID="{1FBE4A65-84FC-4448-90FD-2A9127F76FDF}" presName="compNode" presStyleCnt="0"/>
      <dgm:spPr/>
    </dgm:pt>
    <dgm:pt modelId="{27B87464-C7CB-4992-B38E-28036B1399D2}" type="pres">
      <dgm:prSet presAssocID="{1FBE4A65-84FC-4448-90FD-2A9127F76FDF}" presName="dummyConnPt" presStyleCnt="0"/>
      <dgm:spPr/>
    </dgm:pt>
    <dgm:pt modelId="{E9295509-3DC2-49B9-BABB-46A8A917C2DB}" type="pres">
      <dgm:prSet presAssocID="{1FBE4A65-84FC-4448-90FD-2A9127F76FDF}" presName="node" presStyleLbl="node1" presStyleIdx="2" presStyleCnt="9">
        <dgm:presLayoutVars>
          <dgm:bulletEnabled val="1"/>
        </dgm:presLayoutVars>
      </dgm:prSet>
      <dgm:spPr/>
    </dgm:pt>
    <dgm:pt modelId="{96FF2CD6-3464-4AA2-8008-A92FF67F2DB0}" type="pres">
      <dgm:prSet presAssocID="{C3858E8F-8FE7-4317-8396-649E694EBB8F}" presName="sibTrans" presStyleLbl="bgSibTrans2D1" presStyleIdx="2" presStyleCnt="8"/>
      <dgm:spPr/>
    </dgm:pt>
    <dgm:pt modelId="{3AC6E779-8BD0-4709-8FCC-CC8473273F6F}" type="pres">
      <dgm:prSet presAssocID="{4122CF5B-6E26-450E-9582-9856099658F4}" presName="compNode" presStyleCnt="0"/>
      <dgm:spPr/>
    </dgm:pt>
    <dgm:pt modelId="{8D1C2963-C0FA-4BD6-84D0-3EAAEB41946D}" type="pres">
      <dgm:prSet presAssocID="{4122CF5B-6E26-450E-9582-9856099658F4}" presName="dummyConnPt" presStyleCnt="0"/>
      <dgm:spPr/>
    </dgm:pt>
    <dgm:pt modelId="{EC8B16C4-C6B4-4AC7-B0A1-B9E83FF1DD6B}" type="pres">
      <dgm:prSet presAssocID="{4122CF5B-6E26-450E-9582-9856099658F4}" presName="node" presStyleLbl="node1" presStyleIdx="3" presStyleCnt="9">
        <dgm:presLayoutVars>
          <dgm:bulletEnabled val="1"/>
        </dgm:presLayoutVars>
      </dgm:prSet>
      <dgm:spPr/>
    </dgm:pt>
    <dgm:pt modelId="{CA697C0F-435F-493F-A053-96848FAA107D}" type="pres">
      <dgm:prSet presAssocID="{01F53C50-E41E-41F6-AF31-51500E5B09DA}" presName="sibTrans" presStyleLbl="bgSibTrans2D1" presStyleIdx="3" presStyleCnt="8"/>
      <dgm:spPr/>
    </dgm:pt>
    <dgm:pt modelId="{5A06F654-DDD8-4EF9-A036-3FBCAE58F518}" type="pres">
      <dgm:prSet presAssocID="{1A3B28DD-6095-4211-99F9-9B23050EF216}" presName="compNode" presStyleCnt="0"/>
      <dgm:spPr/>
    </dgm:pt>
    <dgm:pt modelId="{E441589D-301E-4DB7-B7DC-636936A94B14}" type="pres">
      <dgm:prSet presAssocID="{1A3B28DD-6095-4211-99F9-9B23050EF216}" presName="dummyConnPt" presStyleCnt="0"/>
      <dgm:spPr/>
    </dgm:pt>
    <dgm:pt modelId="{41758FA8-E7D1-4EF4-B836-F58B0044B9AF}" type="pres">
      <dgm:prSet presAssocID="{1A3B28DD-6095-4211-99F9-9B23050EF216}" presName="node" presStyleLbl="node1" presStyleIdx="4" presStyleCnt="9">
        <dgm:presLayoutVars>
          <dgm:bulletEnabled val="1"/>
        </dgm:presLayoutVars>
      </dgm:prSet>
      <dgm:spPr/>
    </dgm:pt>
    <dgm:pt modelId="{80B969F5-5D6A-4B98-8385-4B1F964B79F8}" type="pres">
      <dgm:prSet presAssocID="{7732E8AB-7321-48A6-B5CF-D733FC42FF11}" presName="sibTrans" presStyleLbl="bgSibTrans2D1" presStyleIdx="4" presStyleCnt="8"/>
      <dgm:spPr/>
    </dgm:pt>
    <dgm:pt modelId="{6B84572B-006D-4453-A18E-8EA9264DB691}" type="pres">
      <dgm:prSet presAssocID="{3FB32B43-1FCA-410F-9AFA-DF34CC523A54}" presName="compNode" presStyleCnt="0"/>
      <dgm:spPr/>
    </dgm:pt>
    <dgm:pt modelId="{567817BF-2D0B-420F-9D96-FBFAB6A9B55E}" type="pres">
      <dgm:prSet presAssocID="{3FB32B43-1FCA-410F-9AFA-DF34CC523A54}" presName="dummyConnPt" presStyleCnt="0"/>
      <dgm:spPr/>
    </dgm:pt>
    <dgm:pt modelId="{4BFD8C00-A4AF-4EAD-BBC0-6A010DAA829A}" type="pres">
      <dgm:prSet presAssocID="{3FB32B43-1FCA-410F-9AFA-DF34CC523A54}" presName="node" presStyleLbl="node1" presStyleIdx="5" presStyleCnt="9">
        <dgm:presLayoutVars>
          <dgm:bulletEnabled val="1"/>
        </dgm:presLayoutVars>
      </dgm:prSet>
      <dgm:spPr/>
    </dgm:pt>
    <dgm:pt modelId="{D3C077BB-52BB-4B86-871D-4B75A5DF987C}" type="pres">
      <dgm:prSet presAssocID="{88566804-5A04-41CA-9A90-4F734328B8B8}" presName="sibTrans" presStyleLbl="bgSibTrans2D1" presStyleIdx="5" presStyleCnt="8"/>
      <dgm:spPr/>
    </dgm:pt>
    <dgm:pt modelId="{C49C0832-8AC5-4586-883A-0B2D3DD6ED06}" type="pres">
      <dgm:prSet presAssocID="{5763A456-C7DE-4F01-945B-17C92755102D}" presName="compNode" presStyleCnt="0"/>
      <dgm:spPr/>
    </dgm:pt>
    <dgm:pt modelId="{10DD1D03-3304-40A5-8B69-FFE66496F094}" type="pres">
      <dgm:prSet presAssocID="{5763A456-C7DE-4F01-945B-17C92755102D}" presName="dummyConnPt" presStyleCnt="0"/>
      <dgm:spPr/>
    </dgm:pt>
    <dgm:pt modelId="{05607DB0-34EB-4A37-BFCD-50F6039C049F}" type="pres">
      <dgm:prSet presAssocID="{5763A456-C7DE-4F01-945B-17C92755102D}" presName="node" presStyleLbl="node1" presStyleIdx="6" presStyleCnt="9">
        <dgm:presLayoutVars>
          <dgm:bulletEnabled val="1"/>
        </dgm:presLayoutVars>
      </dgm:prSet>
      <dgm:spPr/>
    </dgm:pt>
    <dgm:pt modelId="{0FFDE9C3-D560-4D39-BEE7-57152646F3B9}" type="pres">
      <dgm:prSet presAssocID="{9E355288-247A-4827-B9B1-385D4D21A91F}" presName="sibTrans" presStyleLbl="bgSibTrans2D1" presStyleIdx="6" presStyleCnt="8"/>
      <dgm:spPr/>
    </dgm:pt>
    <dgm:pt modelId="{735A4DED-F339-49A2-99AD-50967D19044D}" type="pres">
      <dgm:prSet presAssocID="{13A6ED41-B880-42B4-86A1-0EB5DDD8C1EF}" presName="compNode" presStyleCnt="0"/>
      <dgm:spPr/>
    </dgm:pt>
    <dgm:pt modelId="{7A607BDA-0B0C-4477-9721-E7A140EE8305}" type="pres">
      <dgm:prSet presAssocID="{13A6ED41-B880-42B4-86A1-0EB5DDD8C1EF}" presName="dummyConnPt" presStyleCnt="0"/>
      <dgm:spPr/>
    </dgm:pt>
    <dgm:pt modelId="{06DEA9BD-F804-4410-8BC9-B6416E953003}" type="pres">
      <dgm:prSet presAssocID="{13A6ED41-B880-42B4-86A1-0EB5DDD8C1EF}" presName="node" presStyleLbl="node1" presStyleIdx="7" presStyleCnt="9">
        <dgm:presLayoutVars>
          <dgm:bulletEnabled val="1"/>
        </dgm:presLayoutVars>
      </dgm:prSet>
      <dgm:spPr/>
    </dgm:pt>
    <dgm:pt modelId="{1DE8D102-4293-4104-8262-C9F236D92CAE}" type="pres">
      <dgm:prSet presAssocID="{AB642EDA-DADF-4A8D-B421-FB29ACE4E812}" presName="sibTrans" presStyleLbl="bgSibTrans2D1" presStyleIdx="7" presStyleCnt="8"/>
      <dgm:spPr/>
    </dgm:pt>
    <dgm:pt modelId="{83D0C407-60CB-455D-90C9-2C54B3689FC4}" type="pres">
      <dgm:prSet presAssocID="{3F72D79A-990B-42C3-9763-B3B0372F84D5}" presName="compNode" presStyleCnt="0"/>
      <dgm:spPr/>
    </dgm:pt>
    <dgm:pt modelId="{2C8232F3-315D-4825-9C3E-ABA2ADCA33E4}" type="pres">
      <dgm:prSet presAssocID="{3F72D79A-990B-42C3-9763-B3B0372F84D5}" presName="dummyConnPt" presStyleCnt="0"/>
      <dgm:spPr/>
    </dgm:pt>
    <dgm:pt modelId="{B235CEEB-56A0-4D6E-8EA7-E7CAB1F0EC1A}" type="pres">
      <dgm:prSet presAssocID="{3F72D79A-990B-42C3-9763-B3B0372F84D5}" presName="node" presStyleLbl="node1" presStyleIdx="8" presStyleCnt="9">
        <dgm:presLayoutVars>
          <dgm:bulletEnabled val="1"/>
        </dgm:presLayoutVars>
      </dgm:prSet>
      <dgm:spPr/>
    </dgm:pt>
  </dgm:ptLst>
  <dgm:cxnLst>
    <dgm:cxn modelId="{B08B5A06-2CF0-4739-BFDC-FA8E9BAFF491}" type="presOf" srcId="{7732E8AB-7321-48A6-B5CF-D733FC42FF11}" destId="{80B969F5-5D6A-4B98-8385-4B1F964B79F8}" srcOrd="0" destOrd="0" presId="urn:microsoft.com/office/officeart/2005/8/layout/bProcess4"/>
    <dgm:cxn modelId="{92234207-ABE1-4EDE-92B3-891D4F08148D}" srcId="{F25A30EE-A2DE-4EEC-B716-504F8B3EB77E}" destId="{1FBE4A65-84FC-4448-90FD-2A9127F76FDF}" srcOrd="2" destOrd="0" parTransId="{37F89026-3BA8-45BB-A1BB-A3291606B6F4}" sibTransId="{C3858E8F-8FE7-4317-8396-649E694EBB8F}"/>
    <dgm:cxn modelId="{994D3325-1C9D-4C2E-8147-96B646E2C7FE}" type="presOf" srcId="{9E355288-247A-4827-B9B1-385D4D21A91F}" destId="{0FFDE9C3-D560-4D39-BEE7-57152646F3B9}" srcOrd="0" destOrd="0" presId="urn:microsoft.com/office/officeart/2005/8/layout/bProcess4"/>
    <dgm:cxn modelId="{70270B2A-FB95-4F60-97AE-51FBA6878593}" srcId="{F25A30EE-A2DE-4EEC-B716-504F8B3EB77E}" destId="{1A3B28DD-6095-4211-99F9-9B23050EF216}" srcOrd="4" destOrd="0" parTransId="{ECB77425-580B-4E35-BC1F-F5A2C9A9A41A}" sibTransId="{7732E8AB-7321-48A6-B5CF-D733FC42FF11}"/>
    <dgm:cxn modelId="{CB95EF36-1F2B-41A1-8006-9D9F4B417EAD}" type="presOf" srcId="{3F72D79A-990B-42C3-9763-B3B0372F84D5}" destId="{B235CEEB-56A0-4D6E-8EA7-E7CAB1F0EC1A}" srcOrd="0" destOrd="0" presId="urn:microsoft.com/office/officeart/2005/8/layout/bProcess4"/>
    <dgm:cxn modelId="{9C0E4E39-4A08-4738-B0DF-7C81C7FDF3D8}" type="presOf" srcId="{1FBE4A65-84FC-4448-90FD-2A9127F76FDF}" destId="{E9295509-3DC2-49B9-BABB-46A8A917C2DB}" srcOrd="0" destOrd="0" presId="urn:microsoft.com/office/officeart/2005/8/layout/bProcess4"/>
    <dgm:cxn modelId="{6047C25F-100E-4011-A945-813E181F73E0}" srcId="{F25A30EE-A2DE-4EEC-B716-504F8B3EB77E}" destId="{13A6ED41-B880-42B4-86A1-0EB5DDD8C1EF}" srcOrd="7" destOrd="0" parTransId="{0BE9B7E2-57D5-4308-943D-056A0D119DBE}" sibTransId="{AB642EDA-DADF-4A8D-B421-FB29ACE4E812}"/>
    <dgm:cxn modelId="{39C4DA61-A1C9-4113-A7E0-DE274810C578}" srcId="{F25A30EE-A2DE-4EEC-B716-504F8B3EB77E}" destId="{C92C9F48-DDCF-41C0-82B8-D4E7C6FFA053}" srcOrd="1" destOrd="0" parTransId="{E4C9DC00-CA35-4823-B0C7-27EFD04A7353}" sibTransId="{184BFB56-96EC-4EF1-8B82-CAC2880CC9E0}"/>
    <dgm:cxn modelId="{3E3FDD6D-EBAC-44FD-AF87-C7A29D5BC6D3}" srcId="{F25A30EE-A2DE-4EEC-B716-504F8B3EB77E}" destId="{5763A456-C7DE-4F01-945B-17C92755102D}" srcOrd="6" destOrd="0" parTransId="{67036E9A-0DEE-4342-9A31-1F4F480BBA64}" sibTransId="{9E355288-247A-4827-B9B1-385D4D21A91F}"/>
    <dgm:cxn modelId="{350B0375-DF7B-4ECF-BE9B-E772C16722B8}" type="presOf" srcId="{88566804-5A04-41CA-9A90-4F734328B8B8}" destId="{D3C077BB-52BB-4B86-871D-4B75A5DF987C}" srcOrd="0" destOrd="0" presId="urn:microsoft.com/office/officeart/2005/8/layout/bProcess4"/>
    <dgm:cxn modelId="{64580176-B3F3-4C1B-83E9-1D2FE6FD8FEC}" type="presOf" srcId="{C3858E8F-8FE7-4317-8396-649E694EBB8F}" destId="{96FF2CD6-3464-4AA2-8008-A92FF67F2DB0}" srcOrd="0" destOrd="0" presId="urn:microsoft.com/office/officeart/2005/8/layout/bProcess4"/>
    <dgm:cxn modelId="{B7D7FD76-5E79-41FE-93BD-556A553AAC4F}" type="presOf" srcId="{4122CF5B-6E26-450E-9582-9856099658F4}" destId="{EC8B16C4-C6B4-4AC7-B0A1-B9E83FF1DD6B}" srcOrd="0" destOrd="0" presId="urn:microsoft.com/office/officeart/2005/8/layout/bProcess4"/>
    <dgm:cxn modelId="{E1258159-DE85-4902-8123-DAA6A6597955}" srcId="{F25A30EE-A2DE-4EEC-B716-504F8B3EB77E}" destId="{A124AAEE-F6E4-4FB9-A513-F0028CA86607}" srcOrd="0" destOrd="0" parTransId="{A762F38A-015B-4DE4-A112-3EE0096CC69B}" sibTransId="{7BEA9FDF-9803-4702-A1F0-1AE71B4B8969}"/>
    <dgm:cxn modelId="{D355CC7A-C456-4121-A911-9C35FDC310BA}" srcId="{F25A30EE-A2DE-4EEC-B716-504F8B3EB77E}" destId="{4122CF5B-6E26-450E-9582-9856099658F4}" srcOrd="3" destOrd="0" parTransId="{9E70C68E-1E16-4442-B994-51A45214FB66}" sibTransId="{01F53C50-E41E-41F6-AF31-51500E5B09DA}"/>
    <dgm:cxn modelId="{96B37487-75EC-4608-A059-155066BADD97}" type="presOf" srcId="{3FB32B43-1FCA-410F-9AFA-DF34CC523A54}" destId="{4BFD8C00-A4AF-4EAD-BBC0-6A010DAA829A}" srcOrd="0" destOrd="0" presId="urn:microsoft.com/office/officeart/2005/8/layout/bProcess4"/>
    <dgm:cxn modelId="{B534DF8B-2CB5-47C3-9EA6-0428CF1043A3}" type="presOf" srcId="{AB642EDA-DADF-4A8D-B421-FB29ACE4E812}" destId="{1DE8D102-4293-4104-8262-C9F236D92CAE}" srcOrd="0" destOrd="0" presId="urn:microsoft.com/office/officeart/2005/8/layout/bProcess4"/>
    <dgm:cxn modelId="{F563C691-69D7-458C-B3A8-BF67C49A1362}" type="presOf" srcId="{7BEA9FDF-9803-4702-A1F0-1AE71B4B8969}" destId="{DD459ACA-DF57-4334-950E-D91A9F933FBA}" srcOrd="0" destOrd="0" presId="urn:microsoft.com/office/officeart/2005/8/layout/bProcess4"/>
    <dgm:cxn modelId="{11349E97-89C6-4A35-B42B-C7148CB9DACD}" type="presOf" srcId="{A124AAEE-F6E4-4FB9-A513-F0028CA86607}" destId="{06477257-F205-4138-BF51-24BC65266399}" srcOrd="0" destOrd="0" presId="urn:microsoft.com/office/officeart/2005/8/layout/bProcess4"/>
    <dgm:cxn modelId="{47B24B9B-E324-4B80-953B-EA51FCE20B4A}" type="presOf" srcId="{C92C9F48-DDCF-41C0-82B8-D4E7C6FFA053}" destId="{29047290-B38F-412D-8B84-764A98F6AE1E}" srcOrd="0" destOrd="0" presId="urn:microsoft.com/office/officeart/2005/8/layout/bProcess4"/>
    <dgm:cxn modelId="{EC7449A9-F3AC-40D1-8802-FB0735F31478}" type="presOf" srcId="{184BFB56-96EC-4EF1-8B82-CAC2880CC9E0}" destId="{90605D77-9913-493B-B25D-D79A9A7C03DE}" srcOrd="0" destOrd="0" presId="urn:microsoft.com/office/officeart/2005/8/layout/bProcess4"/>
    <dgm:cxn modelId="{7A7F9FAF-90ED-4003-8B49-C0A2B051E6B5}" type="presOf" srcId="{01F53C50-E41E-41F6-AF31-51500E5B09DA}" destId="{CA697C0F-435F-493F-A053-96848FAA107D}" srcOrd="0" destOrd="0" presId="urn:microsoft.com/office/officeart/2005/8/layout/bProcess4"/>
    <dgm:cxn modelId="{D0293FB4-726C-48FE-A284-01F92C675568}" type="presOf" srcId="{1A3B28DD-6095-4211-99F9-9B23050EF216}" destId="{41758FA8-E7D1-4EF4-B836-F58B0044B9AF}" srcOrd="0" destOrd="0" presId="urn:microsoft.com/office/officeart/2005/8/layout/bProcess4"/>
    <dgm:cxn modelId="{478AFBC0-6E4B-4412-A261-63D4E09D8A54}" srcId="{F25A30EE-A2DE-4EEC-B716-504F8B3EB77E}" destId="{3FB32B43-1FCA-410F-9AFA-DF34CC523A54}" srcOrd="5" destOrd="0" parTransId="{4A400DFA-6CA7-4E9B-BDB0-8F0F7431E454}" sibTransId="{88566804-5A04-41CA-9A90-4F734328B8B8}"/>
    <dgm:cxn modelId="{A68961C5-55B4-43E2-B6DE-6B059FBD43E1}" type="presOf" srcId="{F25A30EE-A2DE-4EEC-B716-504F8B3EB77E}" destId="{DA6C6741-1890-42D9-B1EE-9BF96992F013}" srcOrd="0" destOrd="0" presId="urn:microsoft.com/office/officeart/2005/8/layout/bProcess4"/>
    <dgm:cxn modelId="{87531CC8-4F0A-4B27-8102-D61D0E703203}" srcId="{F25A30EE-A2DE-4EEC-B716-504F8B3EB77E}" destId="{3F72D79A-990B-42C3-9763-B3B0372F84D5}" srcOrd="8" destOrd="0" parTransId="{C39AB7B6-2DF1-4B7A-8BA5-5A41267809FF}" sibTransId="{AAC94962-69C2-4DD8-BE5B-D69834A8F1D9}"/>
    <dgm:cxn modelId="{C39ECEE5-F497-4CAD-8762-8FC989872638}" type="presOf" srcId="{13A6ED41-B880-42B4-86A1-0EB5DDD8C1EF}" destId="{06DEA9BD-F804-4410-8BC9-B6416E953003}" srcOrd="0" destOrd="0" presId="urn:microsoft.com/office/officeart/2005/8/layout/bProcess4"/>
    <dgm:cxn modelId="{772407EA-2D07-46F0-9F16-08DF80B74BDA}" type="presOf" srcId="{5763A456-C7DE-4F01-945B-17C92755102D}" destId="{05607DB0-34EB-4A37-BFCD-50F6039C049F}" srcOrd="0" destOrd="0" presId="urn:microsoft.com/office/officeart/2005/8/layout/bProcess4"/>
    <dgm:cxn modelId="{AAD35776-876E-4DDF-B971-DB77445AF010}" type="presParOf" srcId="{DA6C6741-1890-42D9-B1EE-9BF96992F013}" destId="{EDE5E354-E8E0-4E24-9CD4-EE5CDA9FA713}" srcOrd="0" destOrd="0" presId="urn:microsoft.com/office/officeart/2005/8/layout/bProcess4"/>
    <dgm:cxn modelId="{9A9995C3-3DA5-4E48-B62B-E980B7FD8620}" type="presParOf" srcId="{EDE5E354-E8E0-4E24-9CD4-EE5CDA9FA713}" destId="{E21D8103-47E8-4A37-8EB9-BE93DEB76268}" srcOrd="0" destOrd="0" presId="urn:microsoft.com/office/officeart/2005/8/layout/bProcess4"/>
    <dgm:cxn modelId="{0E539962-66D6-436D-B610-48E67487F07D}" type="presParOf" srcId="{EDE5E354-E8E0-4E24-9CD4-EE5CDA9FA713}" destId="{06477257-F205-4138-BF51-24BC65266399}" srcOrd="1" destOrd="0" presId="urn:microsoft.com/office/officeart/2005/8/layout/bProcess4"/>
    <dgm:cxn modelId="{DB613C6E-9ED1-495B-A340-BDCDD6FB726D}" type="presParOf" srcId="{DA6C6741-1890-42D9-B1EE-9BF96992F013}" destId="{DD459ACA-DF57-4334-950E-D91A9F933FBA}" srcOrd="1" destOrd="0" presId="urn:microsoft.com/office/officeart/2005/8/layout/bProcess4"/>
    <dgm:cxn modelId="{9231DA54-AFA9-4C97-933C-D1FF754353F4}" type="presParOf" srcId="{DA6C6741-1890-42D9-B1EE-9BF96992F013}" destId="{28D641B4-D0C9-4A63-BD8F-E8E24E61BCD0}" srcOrd="2" destOrd="0" presId="urn:microsoft.com/office/officeart/2005/8/layout/bProcess4"/>
    <dgm:cxn modelId="{2CA7BFC4-0A3A-43C9-AA0A-FFC93A1242BB}" type="presParOf" srcId="{28D641B4-D0C9-4A63-BD8F-E8E24E61BCD0}" destId="{5B5DDD76-250E-40F2-954F-47727D2D20F0}" srcOrd="0" destOrd="0" presId="urn:microsoft.com/office/officeart/2005/8/layout/bProcess4"/>
    <dgm:cxn modelId="{3F21EA3A-A43B-4219-BD6E-E5783538E20E}" type="presParOf" srcId="{28D641B4-D0C9-4A63-BD8F-E8E24E61BCD0}" destId="{29047290-B38F-412D-8B84-764A98F6AE1E}" srcOrd="1" destOrd="0" presId="urn:microsoft.com/office/officeart/2005/8/layout/bProcess4"/>
    <dgm:cxn modelId="{248780D2-2281-4D70-B174-FA2AEFDD3860}" type="presParOf" srcId="{DA6C6741-1890-42D9-B1EE-9BF96992F013}" destId="{90605D77-9913-493B-B25D-D79A9A7C03DE}" srcOrd="3" destOrd="0" presId="urn:microsoft.com/office/officeart/2005/8/layout/bProcess4"/>
    <dgm:cxn modelId="{7AB7656C-F04A-4C09-AEDD-B2B4750E9C72}" type="presParOf" srcId="{DA6C6741-1890-42D9-B1EE-9BF96992F013}" destId="{DC195961-36CA-4C45-A4FA-271DA51AA27B}" srcOrd="4" destOrd="0" presId="urn:microsoft.com/office/officeart/2005/8/layout/bProcess4"/>
    <dgm:cxn modelId="{35A7F2C6-CDFC-46A9-87C7-3227A996C931}" type="presParOf" srcId="{DC195961-36CA-4C45-A4FA-271DA51AA27B}" destId="{27B87464-C7CB-4992-B38E-28036B1399D2}" srcOrd="0" destOrd="0" presId="urn:microsoft.com/office/officeart/2005/8/layout/bProcess4"/>
    <dgm:cxn modelId="{FD905FC3-815A-4917-BBEE-F82E337CFE50}" type="presParOf" srcId="{DC195961-36CA-4C45-A4FA-271DA51AA27B}" destId="{E9295509-3DC2-49B9-BABB-46A8A917C2DB}" srcOrd="1" destOrd="0" presId="urn:microsoft.com/office/officeart/2005/8/layout/bProcess4"/>
    <dgm:cxn modelId="{67814CC4-A793-4088-96C8-043DEDB8F69F}" type="presParOf" srcId="{DA6C6741-1890-42D9-B1EE-9BF96992F013}" destId="{96FF2CD6-3464-4AA2-8008-A92FF67F2DB0}" srcOrd="5" destOrd="0" presId="urn:microsoft.com/office/officeart/2005/8/layout/bProcess4"/>
    <dgm:cxn modelId="{FC09848C-CAC3-46A7-B51C-0131A98AC85F}" type="presParOf" srcId="{DA6C6741-1890-42D9-B1EE-9BF96992F013}" destId="{3AC6E779-8BD0-4709-8FCC-CC8473273F6F}" srcOrd="6" destOrd="0" presId="urn:microsoft.com/office/officeart/2005/8/layout/bProcess4"/>
    <dgm:cxn modelId="{D01C63A4-2196-407A-A878-B782B13855FE}" type="presParOf" srcId="{3AC6E779-8BD0-4709-8FCC-CC8473273F6F}" destId="{8D1C2963-C0FA-4BD6-84D0-3EAAEB41946D}" srcOrd="0" destOrd="0" presId="urn:microsoft.com/office/officeart/2005/8/layout/bProcess4"/>
    <dgm:cxn modelId="{286B8F71-8091-40CA-B367-9B255A18A89F}" type="presParOf" srcId="{3AC6E779-8BD0-4709-8FCC-CC8473273F6F}" destId="{EC8B16C4-C6B4-4AC7-B0A1-B9E83FF1DD6B}" srcOrd="1" destOrd="0" presId="urn:microsoft.com/office/officeart/2005/8/layout/bProcess4"/>
    <dgm:cxn modelId="{CD63ECEC-B3E5-4E4A-8D6B-1FF5AB3D4BB9}" type="presParOf" srcId="{DA6C6741-1890-42D9-B1EE-9BF96992F013}" destId="{CA697C0F-435F-493F-A053-96848FAA107D}" srcOrd="7" destOrd="0" presId="urn:microsoft.com/office/officeart/2005/8/layout/bProcess4"/>
    <dgm:cxn modelId="{6E260F5A-1505-4D6C-A25F-2F8361B7A2E9}" type="presParOf" srcId="{DA6C6741-1890-42D9-B1EE-9BF96992F013}" destId="{5A06F654-DDD8-4EF9-A036-3FBCAE58F518}" srcOrd="8" destOrd="0" presId="urn:microsoft.com/office/officeart/2005/8/layout/bProcess4"/>
    <dgm:cxn modelId="{F8FF0A09-4E5D-4EBE-92F6-C69FAB00C8DD}" type="presParOf" srcId="{5A06F654-DDD8-4EF9-A036-3FBCAE58F518}" destId="{E441589D-301E-4DB7-B7DC-636936A94B14}" srcOrd="0" destOrd="0" presId="urn:microsoft.com/office/officeart/2005/8/layout/bProcess4"/>
    <dgm:cxn modelId="{A8E98EF5-CF13-4B90-8E45-B3419A1F785B}" type="presParOf" srcId="{5A06F654-DDD8-4EF9-A036-3FBCAE58F518}" destId="{41758FA8-E7D1-4EF4-B836-F58B0044B9AF}" srcOrd="1" destOrd="0" presId="urn:microsoft.com/office/officeart/2005/8/layout/bProcess4"/>
    <dgm:cxn modelId="{799CCAAD-44FB-4FD5-A817-BA4159DC7594}" type="presParOf" srcId="{DA6C6741-1890-42D9-B1EE-9BF96992F013}" destId="{80B969F5-5D6A-4B98-8385-4B1F964B79F8}" srcOrd="9" destOrd="0" presId="urn:microsoft.com/office/officeart/2005/8/layout/bProcess4"/>
    <dgm:cxn modelId="{00BDB590-4670-42EE-B379-8AD4D75414A6}" type="presParOf" srcId="{DA6C6741-1890-42D9-B1EE-9BF96992F013}" destId="{6B84572B-006D-4453-A18E-8EA9264DB691}" srcOrd="10" destOrd="0" presId="urn:microsoft.com/office/officeart/2005/8/layout/bProcess4"/>
    <dgm:cxn modelId="{3C21D6C2-41BA-4623-9F17-CF032693FD6C}" type="presParOf" srcId="{6B84572B-006D-4453-A18E-8EA9264DB691}" destId="{567817BF-2D0B-420F-9D96-FBFAB6A9B55E}" srcOrd="0" destOrd="0" presId="urn:microsoft.com/office/officeart/2005/8/layout/bProcess4"/>
    <dgm:cxn modelId="{8AC25585-B0F3-49DE-AD9D-A7E7938EA1BC}" type="presParOf" srcId="{6B84572B-006D-4453-A18E-8EA9264DB691}" destId="{4BFD8C00-A4AF-4EAD-BBC0-6A010DAA829A}" srcOrd="1" destOrd="0" presId="urn:microsoft.com/office/officeart/2005/8/layout/bProcess4"/>
    <dgm:cxn modelId="{67390DE2-BB45-4AA3-B8E7-512F894B3352}" type="presParOf" srcId="{DA6C6741-1890-42D9-B1EE-9BF96992F013}" destId="{D3C077BB-52BB-4B86-871D-4B75A5DF987C}" srcOrd="11" destOrd="0" presId="urn:microsoft.com/office/officeart/2005/8/layout/bProcess4"/>
    <dgm:cxn modelId="{4D3B0FF8-A94E-44DC-915B-85E5C680CB63}" type="presParOf" srcId="{DA6C6741-1890-42D9-B1EE-9BF96992F013}" destId="{C49C0832-8AC5-4586-883A-0B2D3DD6ED06}" srcOrd="12" destOrd="0" presId="urn:microsoft.com/office/officeart/2005/8/layout/bProcess4"/>
    <dgm:cxn modelId="{FA0608EB-BFD6-426D-9D6C-69047B5A99C4}" type="presParOf" srcId="{C49C0832-8AC5-4586-883A-0B2D3DD6ED06}" destId="{10DD1D03-3304-40A5-8B69-FFE66496F094}" srcOrd="0" destOrd="0" presId="urn:microsoft.com/office/officeart/2005/8/layout/bProcess4"/>
    <dgm:cxn modelId="{A771EF29-22DE-4A52-9CE6-92998C39F905}" type="presParOf" srcId="{C49C0832-8AC5-4586-883A-0B2D3DD6ED06}" destId="{05607DB0-34EB-4A37-BFCD-50F6039C049F}" srcOrd="1" destOrd="0" presId="urn:microsoft.com/office/officeart/2005/8/layout/bProcess4"/>
    <dgm:cxn modelId="{9D3EF284-60EA-446E-BB08-542830969748}" type="presParOf" srcId="{DA6C6741-1890-42D9-B1EE-9BF96992F013}" destId="{0FFDE9C3-D560-4D39-BEE7-57152646F3B9}" srcOrd="13" destOrd="0" presId="urn:microsoft.com/office/officeart/2005/8/layout/bProcess4"/>
    <dgm:cxn modelId="{6B9BB35C-A75D-4C4A-A531-4333A6507B56}" type="presParOf" srcId="{DA6C6741-1890-42D9-B1EE-9BF96992F013}" destId="{735A4DED-F339-49A2-99AD-50967D19044D}" srcOrd="14" destOrd="0" presId="urn:microsoft.com/office/officeart/2005/8/layout/bProcess4"/>
    <dgm:cxn modelId="{A4A53C7C-89C1-4D15-A422-BD4E5EE8CA4D}" type="presParOf" srcId="{735A4DED-F339-49A2-99AD-50967D19044D}" destId="{7A607BDA-0B0C-4477-9721-E7A140EE8305}" srcOrd="0" destOrd="0" presId="urn:microsoft.com/office/officeart/2005/8/layout/bProcess4"/>
    <dgm:cxn modelId="{4FD84CE4-F087-47CF-9CB0-00C84439A78F}" type="presParOf" srcId="{735A4DED-F339-49A2-99AD-50967D19044D}" destId="{06DEA9BD-F804-4410-8BC9-B6416E953003}" srcOrd="1" destOrd="0" presId="urn:microsoft.com/office/officeart/2005/8/layout/bProcess4"/>
    <dgm:cxn modelId="{BC0D336F-209B-4B99-83B3-844328BB6D21}" type="presParOf" srcId="{DA6C6741-1890-42D9-B1EE-9BF96992F013}" destId="{1DE8D102-4293-4104-8262-C9F236D92CAE}" srcOrd="15" destOrd="0" presId="urn:microsoft.com/office/officeart/2005/8/layout/bProcess4"/>
    <dgm:cxn modelId="{07749142-61EE-4021-8B04-D3AAB79036FC}" type="presParOf" srcId="{DA6C6741-1890-42D9-B1EE-9BF96992F013}" destId="{83D0C407-60CB-455D-90C9-2C54B3689FC4}" srcOrd="16" destOrd="0" presId="urn:microsoft.com/office/officeart/2005/8/layout/bProcess4"/>
    <dgm:cxn modelId="{86950904-8FA8-4C53-A6E0-BF29AA61647E}" type="presParOf" srcId="{83D0C407-60CB-455D-90C9-2C54B3689FC4}" destId="{2C8232F3-315D-4825-9C3E-ABA2ADCA33E4}" srcOrd="0" destOrd="0" presId="urn:microsoft.com/office/officeart/2005/8/layout/bProcess4"/>
    <dgm:cxn modelId="{DE9A148F-3736-49B5-94FF-04AD9FBA6DC3}" type="presParOf" srcId="{83D0C407-60CB-455D-90C9-2C54B3689FC4}" destId="{B235CEEB-56A0-4D6E-8EA7-E7CAB1F0EC1A}"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459ACA-DF57-4334-950E-D91A9F933FBA}">
      <dsp:nvSpPr>
        <dsp:cNvPr id="0" name=""/>
        <dsp:cNvSpPr/>
      </dsp:nvSpPr>
      <dsp:spPr>
        <a:xfrm rot="5400000">
          <a:off x="1110935" y="987930"/>
          <a:ext cx="1546756" cy="18646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6477257-F205-4138-BF51-24BC65266399}">
      <dsp:nvSpPr>
        <dsp:cNvPr id="0" name=""/>
        <dsp:cNvSpPr/>
      </dsp:nvSpPr>
      <dsp:spPr>
        <a:xfrm>
          <a:off x="1466407" y="279"/>
          <a:ext cx="2071799" cy="12430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Digital Transformation</a:t>
          </a:r>
        </a:p>
      </dsp:txBody>
      <dsp:txXfrm>
        <a:off x="1502816" y="36688"/>
        <a:ext cx="1998981" cy="1170261"/>
      </dsp:txXfrm>
    </dsp:sp>
    <dsp:sp modelId="{90605D77-9913-493B-B25D-D79A9A7C03DE}">
      <dsp:nvSpPr>
        <dsp:cNvPr id="0" name=""/>
        <dsp:cNvSpPr/>
      </dsp:nvSpPr>
      <dsp:spPr>
        <a:xfrm rot="5400000">
          <a:off x="1110935" y="2541780"/>
          <a:ext cx="1546756" cy="18646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9047290-B38F-412D-8B84-764A98F6AE1E}">
      <dsp:nvSpPr>
        <dsp:cNvPr id="0" name=""/>
        <dsp:cNvSpPr/>
      </dsp:nvSpPr>
      <dsp:spPr>
        <a:xfrm>
          <a:off x="1466407" y="1554129"/>
          <a:ext cx="2071799" cy="12430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a:t>Define Scope and Objective</a:t>
          </a:r>
        </a:p>
      </dsp:txBody>
      <dsp:txXfrm>
        <a:off x="1502816" y="1590538"/>
        <a:ext cx="1998981" cy="1170261"/>
      </dsp:txXfrm>
    </dsp:sp>
    <dsp:sp modelId="{96FF2CD6-3464-4AA2-8008-A92FF67F2DB0}">
      <dsp:nvSpPr>
        <dsp:cNvPr id="0" name=""/>
        <dsp:cNvSpPr/>
      </dsp:nvSpPr>
      <dsp:spPr>
        <a:xfrm>
          <a:off x="1887860" y="3318704"/>
          <a:ext cx="2748400" cy="18646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9295509-3DC2-49B9-BABB-46A8A917C2DB}">
      <dsp:nvSpPr>
        <dsp:cNvPr id="0" name=""/>
        <dsp:cNvSpPr/>
      </dsp:nvSpPr>
      <dsp:spPr>
        <a:xfrm>
          <a:off x="1466407" y="3107978"/>
          <a:ext cx="2071799" cy="12430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Select Tech Stack , Architecture, OCR methods for Data extraction</a:t>
          </a:r>
        </a:p>
        <a:p>
          <a:pPr marL="0" lvl="0" indent="0" algn="ctr" defTabSz="622300">
            <a:lnSpc>
              <a:spcPct val="90000"/>
            </a:lnSpc>
            <a:spcBef>
              <a:spcPct val="0"/>
            </a:spcBef>
            <a:spcAft>
              <a:spcPct val="35000"/>
            </a:spcAft>
            <a:buNone/>
          </a:pPr>
          <a:endParaRPr lang="en-IN" sz="1400" kern="1200" dirty="0"/>
        </a:p>
      </dsp:txBody>
      <dsp:txXfrm>
        <a:off x="1502816" y="3144387"/>
        <a:ext cx="1998981" cy="1170261"/>
      </dsp:txXfrm>
    </dsp:sp>
    <dsp:sp modelId="{CA697C0F-435F-493F-A053-96848FAA107D}">
      <dsp:nvSpPr>
        <dsp:cNvPr id="0" name=""/>
        <dsp:cNvSpPr/>
      </dsp:nvSpPr>
      <dsp:spPr>
        <a:xfrm rot="16200000">
          <a:off x="3866428" y="2541780"/>
          <a:ext cx="1546756" cy="18646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C8B16C4-C6B4-4AC7-B0A1-B9E83FF1DD6B}">
      <dsp:nvSpPr>
        <dsp:cNvPr id="0" name=""/>
        <dsp:cNvSpPr/>
      </dsp:nvSpPr>
      <dsp:spPr>
        <a:xfrm>
          <a:off x="4221900" y="3107978"/>
          <a:ext cx="2071799" cy="12430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a:t>UI/UX</a:t>
          </a:r>
        </a:p>
      </dsp:txBody>
      <dsp:txXfrm>
        <a:off x="4258309" y="3144387"/>
        <a:ext cx="1998981" cy="1170261"/>
      </dsp:txXfrm>
    </dsp:sp>
    <dsp:sp modelId="{80B969F5-5D6A-4B98-8385-4B1F964B79F8}">
      <dsp:nvSpPr>
        <dsp:cNvPr id="0" name=""/>
        <dsp:cNvSpPr/>
      </dsp:nvSpPr>
      <dsp:spPr>
        <a:xfrm rot="16200000">
          <a:off x="3866428" y="987930"/>
          <a:ext cx="1546756" cy="18646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1758FA8-E7D1-4EF4-B836-F58B0044B9AF}">
      <dsp:nvSpPr>
        <dsp:cNvPr id="0" name=""/>
        <dsp:cNvSpPr/>
      </dsp:nvSpPr>
      <dsp:spPr>
        <a:xfrm>
          <a:off x="4221900" y="1554129"/>
          <a:ext cx="2071799" cy="12430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Develop MVP( Sprint and Review , includes client feedback)</a:t>
          </a:r>
        </a:p>
        <a:p>
          <a:pPr marL="0" lvl="0" indent="0" algn="ctr" defTabSz="622300">
            <a:lnSpc>
              <a:spcPct val="90000"/>
            </a:lnSpc>
            <a:spcBef>
              <a:spcPct val="0"/>
            </a:spcBef>
            <a:spcAft>
              <a:spcPct val="35000"/>
            </a:spcAft>
            <a:buNone/>
          </a:pPr>
          <a:endParaRPr lang="en-IN" sz="1400" kern="1200" dirty="0"/>
        </a:p>
      </dsp:txBody>
      <dsp:txXfrm>
        <a:off x="4258309" y="1590538"/>
        <a:ext cx="1998981" cy="1170261"/>
      </dsp:txXfrm>
    </dsp:sp>
    <dsp:sp modelId="{D3C077BB-52BB-4B86-871D-4B75A5DF987C}">
      <dsp:nvSpPr>
        <dsp:cNvPr id="0" name=""/>
        <dsp:cNvSpPr/>
      </dsp:nvSpPr>
      <dsp:spPr>
        <a:xfrm>
          <a:off x="4643353" y="211006"/>
          <a:ext cx="2748400" cy="18646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BFD8C00-A4AF-4EAD-BBC0-6A010DAA829A}">
      <dsp:nvSpPr>
        <dsp:cNvPr id="0" name=""/>
        <dsp:cNvSpPr/>
      </dsp:nvSpPr>
      <dsp:spPr>
        <a:xfrm>
          <a:off x="4221900" y="279"/>
          <a:ext cx="2071799" cy="12430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err="1"/>
            <a:t>Thirdparty</a:t>
          </a:r>
          <a:r>
            <a:rPr lang="en-IN" sz="1400" kern="1200" dirty="0"/>
            <a:t> tools Integration( OCR )</a:t>
          </a:r>
        </a:p>
      </dsp:txBody>
      <dsp:txXfrm>
        <a:off x="4258309" y="36688"/>
        <a:ext cx="1998981" cy="1170261"/>
      </dsp:txXfrm>
    </dsp:sp>
    <dsp:sp modelId="{0FFDE9C3-D560-4D39-BEE7-57152646F3B9}">
      <dsp:nvSpPr>
        <dsp:cNvPr id="0" name=""/>
        <dsp:cNvSpPr/>
      </dsp:nvSpPr>
      <dsp:spPr>
        <a:xfrm rot="5400000">
          <a:off x="6621921" y="987930"/>
          <a:ext cx="1546756" cy="18646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5607DB0-34EB-4A37-BFCD-50F6039C049F}">
      <dsp:nvSpPr>
        <dsp:cNvPr id="0" name=""/>
        <dsp:cNvSpPr/>
      </dsp:nvSpPr>
      <dsp:spPr>
        <a:xfrm>
          <a:off x="6977393" y="279"/>
          <a:ext cx="2071799" cy="12430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a:t>Testing and UAT</a:t>
          </a:r>
        </a:p>
      </dsp:txBody>
      <dsp:txXfrm>
        <a:off x="7013802" y="36688"/>
        <a:ext cx="1998981" cy="1170261"/>
      </dsp:txXfrm>
    </dsp:sp>
    <dsp:sp modelId="{1DE8D102-4293-4104-8262-C9F236D92CAE}">
      <dsp:nvSpPr>
        <dsp:cNvPr id="0" name=""/>
        <dsp:cNvSpPr/>
      </dsp:nvSpPr>
      <dsp:spPr>
        <a:xfrm rot="5400000">
          <a:off x="6621921" y="2541780"/>
          <a:ext cx="1546756" cy="18646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6DEA9BD-F804-4410-8BC9-B6416E953003}">
      <dsp:nvSpPr>
        <dsp:cNvPr id="0" name=""/>
        <dsp:cNvSpPr/>
      </dsp:nvSpPr>
      <dsp:spPr>
        <a:xfrm>
          <a:off x="6977393" y="1554129"/>
          <a:ext cx="2071799" cy="12430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a:t>Deployment</a:t>
          </a:r>
        </a:p>
      </dsp:txBody>
      <dsp:txXfrm>
        <a:off x="7013802" y="1590538"/>
        <a:ext cx="1998981" cy="1170261"/>
      </dsp:txXfrm>
    </dsp:sp>
    <dsp:sp modelId="{B235CEEB-56A0-4D6E-8EA7-E7CAB1F0EC1A}">
      <dsp:nvSpPr>
        <dsp:cNvPr id="0" name=""/>
        <dsp:cNvSpPr/>
      </dsp:nvSpPr>
      <dsp:spPr>
        <a:xfrm>
          <a:off x="6977393" y="3107978"/>
          <a:ext cx="2071799" cy="12430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a:t>Monitoring and Maintenence</a:t>
          </a:r>
        </a:p>
      </dsp:txBody>
      <dsp:txXfrm>
        <a:off x="7013802" y="3144387"/>
        <a:ext cx="1998981" cy="1170261"/>
      </dsp:txXfrm>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CD5960-56D6-49A6-B084-4E9C8517A1CE}" type="datetimeFigureOut">
              <a:rPr lang="en-IN" smtClean="0"/>
              <a:t>30-04-2025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B61DD1-BF52-47FD-8786-1E35A760DBD9}" type="slidenum">
              <a:rPr lang="en-IN" smtClean="0"/>
              <a:t>‹#›</a:t>
            </a:fld>
            <a:endParaRPr lang="en-IN"/>
          </a:p>
        </p:txBody>
      </p:sp>
    </p:spTree>
    <p:extLst>
      <p:ext uri="{BB962C8B-B14F-4D97-AF65-F5344CB8AC3E}">
        <p14:creationId xmlns:p14="http://schemas.microsoft.com/office/powerpoint/2010/main" val="3490370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9B61DD1-BF52-47FD-8786-1E35A760DBD9}" type="slidenum">
              <a:rPr lang="en-IN" smtClean="0"/>
              <a:t>1</a:t>
            </a:fld>
            <a:endParaRPr lang="en-IN"/>
          </a:p>
        </p:txBody>
      </p:sp>
    </p:spTree>
    <p:extLst>
      <p:ext uri="{BB962C8B-B14F-4D97-AF65-F5344CB8AC3E}">
        <p14:creationId xmlns:p14="http://schemas.microsoft.com/office/powerpoint/2010/main" val="2786911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9B61DD1-BF52-47FD-8786-1E35A760DBD9}" type="slidenum">
              <a:rPr lang="en-IN" smtClean="0"/>
              <a:t>5</a:t>
            </a:fld>
            <a:endParaRPr lang="en-IN"/>
          </a:p>
        </p:txBody>
      </p:sp>
    </p:spTree>
    <p:extLst>
      <p:ext uri="{BB962C8B-B14F-4D97-AF65-F5344CB8AC3E}">
        <p14:creationId xmlns:p14="http://schemas.microsoft.com/office/powerpoint/2010/main" val="1925216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72C66-9614-18F2-340C-9D948E0BE7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FFB9C15-EC36-F894-210A-2059A0FAE7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285F876-0935-0660-201F-9FEE7799D63C}"/>
              </a:ext>
            </a:extLst>
          </p:cNvPr>
          <p:cNvSpPr>
            <a:spLocks noGrp="1"/>
          </p:cNvSpPr>
          <p:nvPr>
            <p:ph type="dt" sz="half" idx="10"/>
          </p:nvPr>
        </p:nvSpPr>
        <p:spPr/>
        <p:txBody>
          <a:bodyPr/>
          <a:lstStyle/>
          <a:p>
            <a:fld id="{96CF17D3-45E9-4C57-8F08-C8D1075DFB6D}" type="datetimeFigureOut">
              <a:rPr lang="en-IN" smtClean="0"/>
              <a:t>30-04-2025</a:t>
            </a:fld>
            <a:endParaRPr lang="en-IN"/>
          </a:p>
        </p:txBody>
      </p:sp>
      <p:sp>
        <p:nvSpPr>
          <p:cNvPr id="5" name="Footer Placeholder 4">
            <a:extLst>
              <a:ext uri="{FF2B5EF4-FFF2-40B4-BE49-F238E27FC236}">
                <a16:creationId xmlns:a16="http://schemas.microsoft.com/office/drawing/2014/main" id="{DD3D7531-51DE-0630-1AF8-544FC178ED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EE21AC-FC05-BF37-CD82-3A78F8067F08}"/>
              </a:ext>
            </a:extLst>
          </p:cNvPr>
          <p:cNvSpPr>
            <a:spLocks noGrp="1"/>
          </p:cNvSpPr>
          <p:nvPr>
            <p:ph type="sldNum" sz="quarter" idx="12"/>
          </p:nvPr>
        </p:nvSpPr>
        <p:spPr/>
        <p:txBody>
          <a:bodyPr/>
          <a:lstStyle/>
          <a:p>
            <a:fld id="{5D704117-5FE4-4FE8-B761-B646FB1C20A8}" type="slidenum">
              <a:rPr lang="en-IN" smtClean="0"/>
              <a:t>‹#›</a:t>
            </a:fld>
            <a:endParaRPr lang="en-IN"/>
          </a:p>
        </p:txBody>
      </p:sp>
    </p:spTree>
    <p:extLst>
      <p:ext uri="{BB962C8B-B14F-4D97-AF65-F5344CB8AC3E}">
        <p14:creationId xmlns:p14="http://schemas.microsoft.com/office/powerpoint/2010/main" val="4232743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A1C3D-3C50-9A63-91CA-B5C2B076FC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BD29CB-BF65-AD6F-82CD-051B77BC9A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DE1A57-6806-BA02-3484-855755F21382}"/>
              </a:ext>
            </a:extLst>
          </p:cNvPr>
          <p:cNvSpPr>
            <a:spLocks noGrp="1"/>
          </p:cNvSpPr>
          <p:nvPr>
            <p:ph type="dt" sz="half" idx="10"/>
          </p:nvPr>
        </p:nvSpPr>
        <p:spPr/>
        <p:txBody>
          <a:bodyPr/>
          <a:lstStyle/>
          <a:p>
            <a:fld id="{96CF17D3-45E9-4C57-8F08-C8D1075DFB6D}" type="datetimeFigureOut">
              <a:rPr lang="en-IN" smtClean="0"/>
              <a:t>30-04-2025</a:t>
            </a:fld>
            <a:endParaRPr lang="en-IN"/>
          </a:p>
        </p:txBody>
      </p:sp>
      <p:sp>
        <p:nvSpPr>
          <p:cNvPr id="5" name="Footer Placeholder 4">
            <a:extLst>
              <a:ext uri="{FF2B5EF4-FFF2-40B4-BE49-F238E27FC236}">
                <a16:creationId xmlns:a16="http://schemas.microsoft.com/office/drawing/2014/main" id="{79A8C4B0-BFD0-1DE4-FFDA-BF521C8B86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A00FE9-10A9-FED7-1058-F188B6C99C03}"/>
              </a:ext>
            </a:extLst>
          </p:cNvPr>
          <p:cNvSpPr>
            <a:spLocks noGrp="1"/>
          </p:cNvSpPr>
          <p:nvPr>
            <p:ph type="sldNum" sz="quarter" idx="12"/>
          </p:nvPr>
        </p:nvSpPr>
        <p:spPr/>
        <p:txBody>
          <a:bodyPr/>
          <a:lstStyle/>
          <a:p>
            <a:fld id="{5D704117-5FE4-4FE8-B761-B646FB1C20A8}" type="slidenum">
              <a:rPr lang="en-IN" smtClean="0"/>
              <a:t>‹#›</a:t>
            </a:fld>
            <a:endParaRPr lang="en-IN"/>
          </a:p>
        </p:txBody>
      </p:sp>
    </p:spTree>
    <p:extLst>
      <p:ext uri="{BB962C8B-B14F-4D97-AF65-F5344CB8AC3E}">
        <p14:creationId xmlns:p14="http://schemas.microsoft.com/office/powerpoint/2010/main" val="2436844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2F7B4-222E-F19A-28A4-255CA52A24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26FE164-A98C-4BD2-64E9-E88089A840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19B2D6-228E-D8E1-30FB-A4B7E422303E}"/>
              </a:ext>
            </a:extLst>
          </p:cNvPr>
          <p:cNvSpPr>
            <a:spLocks noGrp="1"/>
          </p:cNvSpPr>
          <p:nvPr>
            <p:ph type="dt" sz="half" idx="10"/>
          </p:nvPr>
        </p:nvSpPr>
        <p:spPr/>
        <p:txBody>
          <a:bodyPr/>
          <a:lstStyle/>
          <a:p>
            <a:fld id="{96CF17D3-45E9-4C57-8F08-C8D1075DFB6D}" type="datetimeFigureOut">
              <a:rPr lang="en-IN" smtClean="0"/>
              <a:t>30-04-2025</a:t>
            </a:fld>
            <a:endParaRPr lang="en-IN"/>
          </a:p>
        </p:txBody>
      </p:sp>
      <p:sp>
        <p:nvSpPr>
          <p:cNvPr id="5" name="Footer Placeholder 4">
            <a:extLst>
              <a:ext uri="{FF2B5EF4-FFF2-40B4-BE49-F238E27FC236}">
                <a16:creationId xmlns:a16="http://schemas.microsoft.com/office/drawing/2014/main" id="{FDAC349A-9E9B-5037-516F-B5F73F2942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DBAE10-60BB-F848-6DBB-7EC1650132D8}"/>
              </a:ext>
            </a:extLst>
          </p:cNvPr>
          <p:cNvSpPr>
            <a:spLocks noGrp="1"/>
          </p:cNvSpPr>
          <p:nvPr>
            <p:ph type="sldNum" sz="quarter" idx="12"/>
          </p:nvPr>
        </p:nvSpPr>
        <p:spPr/>
        <p:txBody>
          <a:bodyPr/>
          <a:lstStyle/>
          <a:p>
            <a:fld id="{5D704117-5FE4-4FE8-B761-B646FB1C20A8}" type="slidenum">
              <a:rPr lang="en-IN" smtClean="0"/>
              <a:t>‹#›</a:t>
            </a:fld>
            <a:endParaRPr lang="en-IN"/>
          </a:p>
        </p:txBody>
      </p:sp>
    </p:spTree>
    <p:extLst>
      <p:ext uri="{BB962C8B-B14F-4D97-AF65-F5344CB8AC3E}">
        <p14:creationId xmlns:p14="http://schemas.microsoft.com/office/powerpoint/2010/main" val="727960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118BE-46DD-3A0E-DD5F-092FF3203A6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A4C59D-0912-816D-DB58-3D90DD45F9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FF0DEBF-5B3B-5D42-18D7-05115EB998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C5C00A-1C52-FF64-B9DD-0F01A005B663}"/>
              </a:ext>
            </a:extLst>
          </p:cNvPr>
          <p:cNvSpPr>
            <a:spLocks noGrp="1"/>
          </p:cNvSpPr>
          <p:nvPr>
            <p:ph type="dt" sz="half" idx="10"/>
          </p:nvPr>
        </p:nvSpPr>
        <p:spPr/>
        <p:txBody>
          <a:bodyPr/>
          <a:lstStyle/>
          <a:p>
            <a:fld id="{96CF17D3-45E9-4C57-8F08-C8D1075DFB6D}" type="datetimeFigureOut">
              <a:rPr lang="en-IN" smtClean="0"/>
              <a:t>30-04-2025</a:t>
            </a:fld>
            <a:endParaRPr lang="en-IN"/>
          </a:p>
        </p:txBody>
      </p:sp>
      <p:sp>
        <p:nvSpPr>
          <p:cNvPr id="6" name="Footer Placeholder 5">
            <a:extLst>
              <a:ext uri="{FF2B5EF4-FFF2-40B4-BE49-F238E27FC236}">
                <a16:creationId xmlns:a16="http://schemas.microsoft.com/office/drawing/2014/main" id="{43134333-CFA5-8315-1B23-8D269A2269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B50AD7-3990-26CD-AEAD-0D39735587A5}"/>
              </a:ext>
            </a:extLst>
          </p:cNvPr>
          <p:cNvSpPr>
            <a:spLocks noGrp="1"/>
          </p:cNvSpPr>
          <p:nvPr>
            <p:ph type="sldNum" sz="quarter" idx="12"/>
          </p:nvPr>
        </p:nvSpPr>
        <p:spPr/>
        <p:txBody>
          <a:bodyPr/>
          <a:lstStyle/>
          <a:p>
            <a:fld id="{5D704117-5FE4-4FE8-B761-B646FB1C20A8}" type="slidenum">
              <a:rPr lang="en-IN" smtClean="0"/>
              <a:t>‹#›</a:t>
            </a:fld>
            <a:endParaRPr lang="en-IN"/>
          </a:p>
        </p:txBody>
      </p:sp>
    </p:spTree>
    <p:extLst>
      <p:ext uri="{BB962C8B-B14F-4D97-AF65-F5344CB8AC3E}">
        <p14:creationId xmlns:p14="http://schemas.microsoft.com/office/powerpoint/2010/main" val="2679851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C3D-FEF8-8D03-6220-BAC177B9807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A00CF2-A204-711C-1D97-280E34A6A1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F37A96-E177-A580-7099-7763A354E5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4639763-6EF3-8DA8-651C-B2AF35ABDD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83384C-464C-823C-CB78-D01072FD47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CB10320-FA96-0091-C1A8-71C1B29E6978}"/>
              </a:ext>
            </a:extLst>
          </p:cNvPr>
          <p:cNvSpPr>
            <a:spLocks noGrp="1"/>
          </p:cNvSpPr>
          <p:nvPr>
            <p:ph type="dt" sz="half" idx="10"/>
          </p:nvPr>
        </p:nvSpPr>
        <p:spPr/>
        <p:txBody>
          <a:bodyPr/>
          <a:lstStyle/>
          <a:p>
            <a:fld id="{96CF17D3-45E9-4C57-8F08-C8D1075DFB6D}" type="datetimeFigureOut">
              <a:rPr lang="en-IN" smtClean="0"/>
              <a:t>30-04-2025</a:t>
            </a:fld>
            <a:endParaRPr lang="en-IN"/>
          </a:p>
        </p:txBody>
      </p:sp>
      <p:sp>
        <p:nvSpPr>
          <p:cNvPr id="8" name="Footer Placeholder 7">
            <a:extLst>
              <a:ext uri="{FF2B5EF4-FFF2-40B4-BE49-F238E27FC236}">
                <a16:creationId xmlns:a16="http://schemas.microsoft.com/office/drawing/2014/main" id="{46ED1D2F-9BD1-5B25-A21F-DFFA33A330C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04E243-8D26-D5A8-34E2-CF626B66A425}"/>
              </a:ext>
            </a:extLst>
          </p:cNvPr>
          <p:cNvSpPr>
            <a:spLocks noGrp="1"/>
          </p:cNvSpPr>
          <p:nvPr>
            <p:ph type="sldNum" sz="quarter" idx="12"/>
          </p:nvPr>
        </p:nvSpPr>
        <p:spPr/>
        <p:txBody>
          <a:bodyPr/>
          <a:lstStyle/>
          <a:p>
            <a:fld id="{5D704117-5FE4-4FE8-B761-B646FB1C20A8}" type="slidenum">
              <a:rPr lang="en-IN" smtClean="0"/>
              <a:t>‹#›</a:t>
            </a:fld>
            <a:endParaRPr lang="en-IN"/>
          </a:p>
        </p:txBody>
      </p:sp>
    </p:spTree>
    <p:extLst>
      <p:ext uri="{BB962C8B-B14F-4D97-AF65-F5344CB8AC3E}">
        <p14:creationId xmlns:p14="http://schemas.microsoft.com/office/powerpoint/2010/main" val="4047627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8B62-894D-70E2-87B0-8FC5326A2D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49F26F8-7704-5395-E8D5-6812D49EC683}"/>
              </a:ext>
            </a:extLst>
          </p:cNvPr>
          <p:cNvSpPr>
            <a:spLocks noGrp="1"/>
          </p:cNvSpPr>
          <p:nvPr>
            <p:ph type="dt" sz="half" idx="10"/>
          </p:nvPr>
        </p:nvSpPr>
        <p:spPr/>
        <p:txBody>
          <a:bodyPr/>
          <a:lstStyle/>
          <a:p>
            <a:fld id="{96CF17D3-45E9-4C57-8F08-C8D1075DFB6D}" type="datetimeFigureOut">
              <a:rPr lang="en-IN" smtClean="0"/>
              <a:t>30-04-2025</a:t>
            </a:fld>
            <a:endParaRPr lang="en-IN"/>
          </a:p>
        </p:txBody>
      </p:sp>
      <p:sp>
        <p:nvSpPr>
          <p:cNvPr id="4" name="Footer Placeholder 3">
            <a:extLst>
              <a:ext uri="{FF2B5EF4-FFF2-40B4-BE49-F238E27FC236}">
                <a16:creationId xmlns:a16="http://schemas.microsoft.com/office/drawing/2014/main" id="{4FBB27AC-5EA5-D517-E9C5-EFBF3240695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B24FD8F-4FA2-C723-8E68-0043BB58B1BC}"/>
              </a:ext>
            </a:extLst>
          </p:cNvPr>
          <p:cNvSpPr>
            <a:spLocks noGrp="1"/>
          </p:cNvSpPr>
          <p:nvPr>
            <p:ph type="sldNum" sz="quarter" idx="12"/>
          </p:nvPr>
        </p:nvSpPr>
        <p:spPr/>
        <p:txBody>
          <a:bodyPr/>
          <a:lstStyle/>
          <a:p>
            <a:fld id="{5D704117-5FE4-4FE8-B761-B646FB1C20A8}" type="slidenum">
              <a:rPr lang="en-IN" smtClean="0"/>
              <a:t>‹#›</a:t>
            </a:fld>
            <a:endParaRPr lang="en-IN"/>
          </a:p>
        </p:txBody>
      </p:sp>
    </p:spTree>
    <p:extLst>
      <p:ext uri="{BB962C8B-B14F-4D97-AF65-F5344CB8AC3E}">
        <p14:creationId xmlns:p14="http://schemas.microsoft.com/office/powerpoint/2010/main" val="3610986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049561-B548-7A78-823C-FF978F447793}"/>
              </a:ext>
            </a:extLst>
          </p:cNvPr>
          <p:cNvSpPr>
            <a:spLocks noGrp="1"/>
          </p:cNvSpPr>
          <p:nvPr>
            <p:ph type="dt" sz="half" idx="10"/>
          </p:nvPr>
        </p:nvSpPr>
        <p:spPr/>
        <p:txBody>
          <a:bodyPr/>
          <a:lstStyle/>
          <a:p>
            <a:fld id="{96CF17D3-45E9-4C57-8F08-C8D1075DFB6D}" type="datetimeFigureOut">
              <a:rPr lang="en-IN" smtClean="0"/>
              <a:t>30-04-2025</a:t>
            </a:fld>
            <a:endParaRPr lang="en-IN"/>
          </a:p>
        </p:txBody>
      </p:sp>
      <p:sp>
        <p:nvSpPr>
          <p:cNvPr id="3" name="Footer Placeholder 2">
            <a:extLst>
              <a:ext uri="{FF2B5EF4-FFF2-40B4-BE49-F238E27FC236}">
                <a16:creationId xmlns:a16="http://schemas.microsoft.com/office/drawing/2014/main" id="{8F6FC6EC-CB0C-FD00-14D2-953F804D3F7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75CEFF2-6D49-B7AD-50D2-19A4322AE4C3}"/>
              </a:ext>
            </a:extLst>
          </p:cNvPr>
          <p:cNvSpPr>
            <a:spLocks noGrp="1"/>
          </p:cNvSpPr>
          <p:nvPr>
            <p:ph type="sldNum" sz="quarter" idx="12"/>
          </p:nvPr>
        </p:nvSpPr>
        <p:spPr/>
        <p:txBody>
          <a:bodyPr/>
          <a:lstStyle/>
          <a:p>
            <a:fld id="{5D704117-5FE4-4FE8-B761-B646FB1C20A8}" type="slidenum">
              <a:rPr lang="en-IN" smtClean="0"/>
              <a:t>‹#›</a:t>
            </a:fld>
            <a:endParaRPr lang="en-IN"/>
          </a:p>
        </p:txBody>
      </p:sp>
    </p:spTree>
    <p:extLst>
      <p:ext uri="{BB962C8B-B14F-4D97-AF65-F5344CB8AC3E}">
        <p14:creationId xmlns:p14="http://schemas.microsoft.com/office/powerpoint/2010/main" val="3738698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CB369-C9AD-B541-7289-AE9E63657A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184F253-BEA5-6D8C-4C4D-550EAF3C79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817749E-78FB-1C24-EBAC-1DF7C8BA9E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A01E2-5280-0AD2-D07C-38DE41380346}"/>
              </a:ext>
            </a:extLst>
          </p:cNvPr>
          <p:cNvSpPr>
            <a:spLocks noGrp="1"/>
          </p:cNvSpPr>
          <p:nvPr>
            <p:ph type="dt" sz="half" idx="10"/>
          </p:nvPr>
        </p:nvSpPr>
        <p:spPr/>
        <p:txBody>
          <a:bodyPr/>
          <a:lstStyle/>
          <a:p>
            <a:fld id="{96CF17D3-45E9-4C57-8F08-C8D1075DFB6D}" type="datetimeFigureOut">
              <a:rPr lang="en-IN" smtClean="0"/>
              <a:t>30-04-2025</a:t>
            </a:fld>
            <a:endParaRPr lang="en-IN"/>
          </a:p>
        </p:txBody>
      </p:sp>
      <p:sp>
        <p:nvSpPr>
          <p:cNvPr id="6" name="Footer Placeholder 5">
            <a:extLst>
              <a:ext uri="{FF2B5EF4-FFF2-40B4-BE49-F238E27FC236}">
                <a16:creationId xmlns:a16="http://schemas.microsoft.com/office/drawing/2014/main" id="{7AC90B5E-3B8A-6B6E-14B1-BFBBB83C46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CC9C97-0F56-01FD-D978-7BEECF076E87}"/>
              </a:ext>
            </a:extLst>
          </p:cNvPr>
          <p:cNvSpPr>
            <a:spLocks noGrp="1"/>
          </p:cNvSpPr>
          <p:nvPr>
            <p:ph type="sldNum" sz="quarter" idx="12"/>
          </p:nvPr>
        </p:nvSpPr>
        <p:spPr/>
        <p:txBody>
          <a:bodyPr/>
          <a:lstStyle/>
          <a:p>
            <a:fld id="{5D704117-5FE4-4FE8-B761-B646FB1C20A8}" type="slidenum">
              <a:rPr lang="en-IN" smtClean="0"/>
              <a:t>‹#›</a:t>
            </a:fld>
            <a:endParaRPr lang="en-IN"/>
          </a:p>
        </p:txBody>
      </p:sp>
    </p:spTree>
    <p:extLst>
      <p:ext uri="{BB962C8B-B14F-4D97-AF65-F5344CB8AC3E}">
        <p14:creationId xmlns:p14="http://schemas.microsoft.com/office/powerpoint/2010/main" val="1561272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801D3-7283-4A4C-01A1-9099EB61E0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CB08CB5-A1B4-B43D-C754-437A05EDDC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A1F4661-317D-187D-9FCE-9C4B68C51B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72D0F0-4749-3EB6-8C54-67E4F1CE01B6}"/>
              </a:ext>
            </a:extLst>
          </p:cNvPr>
          <p:cNvSpPr>
            <a:spLocks noGrp="1"/>
          </p:cNvSpPr>
          <p:nvPr>
            <p:ph type="dt" sz="half" idx="10"/>
          </p:nvPr>
        </p:nvSpPr>
        <p:spPr/>
        <p:txBody>
          <a:bodyPr/>
          <a:lstStyle/>
          <a:p>
            <a:fld id="{96CF17D3-45E9-4C57-8F08-C8D1075DFB6D}" type="datetimeFigureOut">
              <a:rPr lang="en-IN" smtClean="0"/>
              <a:t>30-04-2025</a:t>
            </a:fld>
            <a:endParaRPr lang="en-IN"/>
          </a:p>
        </p:txBody>
      </p:sp>
      <p:sp>
        <p:nvSpPr>
          <p:cNvPr id="6" name="Footer Placeholder 5">
            <a:extLst>
              <a:ext uri="{FF2B5EF4-FFF2-40B4-BE49-F238E27FC236}">
                <a16:creationId xmlns:a16="http://schemas.microsoft.com/office/drawing/2014/main" id="{94C8F1DB-83D8-95FB-B3FC-A4782CD570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DFFA70-935B-05E7-883C-07ECE5654786}"/>
              </a:ext>
            </a:extLst>
          </p:cNvPr>
          <p:cNvSpPr>
            <a:spLocks noGrp="1"/>
          </p:cNvSpPr>
          <p:nvPr>
            <p:ph type="sldNum" sz="quarter" idx="12"/>
          </p:nvPr>
        </p:nvSpPr>
        <p:spPr/>
        <p:txBody>
          <a:bodyPr/>
          <a:lstStyle/>
          <a:p>
            <a:fld id="{5D704117-5FE4-4FE8-B761-B646FB1C20A8}" type="slidenum">
              <a:rPr lang="en-IN" smtClean="0"/>
              <a:t>‹#›</a:t>
            </a:fld>
            <a:endParaRPr lang="en-IN"/>
          </a:p>
        </p:txBody>
      </p:sp>
    </p:spTree>
    <p:extLst>
      <p:ext uri="{BB962C8B-B14F-4D97-AF65-F5344CB8AC3E}">
        <p14:creationId xmlns:p14="http://schemas.microsoft.com/office/powerpoint/2010/main" val="4159277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A0769-FBDD-EC01-05D1-0CD3D6B73D5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CA1F31-8B12-B724-E3BE-1223463BAB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9E9D1C-B5C2-1C70-F3A6-130865C2CDD3}"/>
              </a:ext>
            </a:extLst>
          </p:cNvPr>
          <p:cNvSpPr>
            <a:spLocks noGrp="1"/>
          </p:cNvSpPr>
          <p:nvPr>
            <p:ph type="dt" sz="half" idx="10"/>
          </p:nvPr>
        </p:nvSpPr>
        <p:spPr/>
        <p:txBody>
          <a:bodyPr/>
          <a:lstStyle/>
          <a:p>
            <a:fld id="{96CF17D3-45E9-4C57-8F08-C8D1075DFB6D}" type="datetimeFigureOut">
              <a:rPr lang="en-IN" smtClean="0"/>
              <a:t>30-04-2025</a:t>
            </a:fld>
            <a:endParaRPr lang="en-IN"/>
          </a:p>
        </p:txBody>
      </p:sp>
      <p:sp>
        <p:nvSpPr>
          <p:cNvPr id="5" name="Footer Placeholder 4">
            <a:extLst>
              <a:ext uri="{FF2B5EF4-FFF2-40B4-BE49-F238E27FC236}">
                <a16:creationId xmlns:a16="http://schemas.microsoft.com/office/drawing/2014/main" id="{DF5869E7-8911-9C88-19C4-18A207A268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B35D8F-6B9A-476B-EE57-F7E47FE2CA66}"/>
              </a:ext>
            </a:extLst>
          </p:cNvPr>
          <p:cNvSpPr>
            <a:spLocks noGrp="1"/>
          </p:cNvSpPr>
          <p:nvPr>
            <p:ph type="sldNum" sz="quarter" idx="12"/>
          </p:nvPr>
        </p:nvSpPr>
        <p:spPr/>
        <p:txBody>
          <a:bodyPr/>
          <a:lstStyle/>
          <a:p>
            <a:fld id="{5D704117-5FE4-4FE8-B761-B646FB1C20A8}" type="slidenum">
              <a:rPr lang="en-IN" smtClean="0"/>
              <a:t>‹#›</a:t>
            </a:fld>
            <a:endParaRPr lang="en-IN"/>
          </a:p>
        </p:txBody>
      </p:sp>
    </p:spTree>
    <p:extLst>
      <p:ext uri="{BB962C8B-B14F-4D97-AF65-F5344CB8AC3E}">
        <p14:creationId xmlns:p14="http://schemas.microsoft.com/office/powerpoint/2010/main" val="1634391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5D20F5-9002-A3C8-7C1A-8AC27EA6AC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D1690A-2029-48EA-CDAA-96245096B7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4A69BB-1631-E5E7-39EA-D2061842B7DF}"/>
              </a:ext>
            </a:extLst>
          </p:cNvPr>
          <p:cNvSpPr>
            <a:spLocks noGrp="1"/>
          </p:cNvSpPr>
          <p:nvPr>
            <p:ph type="dt" sz="half" idx="10"/>
          </p:nvPr>
        </p:nvSpPr>
        <p:spPr/>
        <p:txBody>
          <a:bodyPr/>
          <a:lstStyle/>
          <a:p>
            <a:fld id="{96CF17D3-45E9-4C57-8F08-C8D1075DFB6D}" type="datetimeFigureOut">
              <a:rPr lang="en-IN" smtClean="0"/>
              <a:t>30-04-2025</a:t>
            </a:fld>
            <a:endParaRPr lang="en-IN"/>
          </a:p>
        </p:txBody>
      </p:sp>
      <p:sp>
        <p:nvSpPr>
          <p:cNvPr id="5" name="Footer Placeholder 4">
            <a:extLst>
              <a:ext uri="{FF2B5EF4-FFF2-40B4-BE49-F238E27FC236}">
                <a16:creationId xmlns:a16="http://schemas.microsoft.com/office/drawing/2014/main" id="{E0798A5B-B29D-9C38-2DF2-9B41FA92FA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3A2AB0-9FD7-A12C-9531-7FBD9F16C3B4}"/>
              </a:ext>
            </a:extLst>
          </p:cNvPr>
          <p:cNvSpPr>
            <a:spLocks noGrp="1"/>
          </p:cNvSpPr>
          <p:nvPr>
            <p:ph type="sldNum" sz="quarter" idx="12"/>
          </p:nvPr>
        </p:nvSpPr>
        <p:spPr/>
        <p:txBody>
          <a:bodyPr/>
          <a:lstStyle/>
          <a:p>
            <a:fld id="{5D704117-5FE4-4FE8-B761-B646FB1C20A8}" type="slidenum">
              <a:rPr lang="en-IN" smtClean="0"/>
              <a:t>‹#›</a:t>
            </a:fld>
            <a:endParaRPr lang="en-IN"/>
          </a:p>
        </p:txBody>
      </p:sp>
    </p:spTree>
    <p:extLst>
      <p:ext uri="{BB962C8B-B14F-4D97-AF65-F5344CB8AC3E}">
        <p14:creationId xmlns:p14="http://schemas.microsoft.com/office/powerpoint/2010/main" val="1126254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4EDD75-0E12-675A-5503-021245DF40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D03438-4D41-6F57-A33B-A568F7EF97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57361A-B5D4-A724-1B7C-8E839E6149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CF17D3-45E9-4C57-8F08-C8D1075DFB6D}" type="datetimeFigureOut">
              <a:rPr lang="en-IN" smtClean="0"/>
              <a:t>30-04-2025</a:t>
            </a:fld>
            <a:endParaRPr lang="en-IN"/>
          </a:p>
        </p:txBody>
      </p:sp>
      <p:sp>
        <p:nvSpPr>
          <p:cNvPr id="5" name="Footer Placeholder 4">
            <a:extLst>
              <a:ext uri="{FF2B5EF4-FFF2-40B4-BE49-F238E27FC236}">
                <a16:creationId xmlns:a16="http://schemas.microsoft.com/office/drawing/2014/main" id="{3FAE8AAA-738B-03A6-DE1A-24A8F85DD5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1DD8FDB-3401-B65E-A041-746A10ED96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704117-5FE4-4FE8-B761-B646FB1C20A8}" type="slidenum">
              <a:rPr lang="en-IN" smtClean="0"/>
              <a:t>‹#›</a:t>
            </a:fld>
            <a:endParaRPr lang="en-IN"/>
          </a:p>
        </p:txBody>
      </p:sp>
    </p:spTree>
    <p:extLst>
      <p:ext uri="{BB962C8B-B14F-4D97-AF65-F5344CB8AC3E}">
        <p14:creationId xmlns:p14="http://schemas.microsoft.com/office/powerpoint/2010/main" val="1876630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2940D-0991-73FF-2CD6-0BCAF9A6B34A}"/>
              </a:ext>
            </a:extLst>
          </p:cNvPr>
          <p:cNvSpPr>
            <a:spLocks noGrp="1"/>
          </p:cNvSpPr>
          <p:nvPr>
            <p:ph type="ctrTitle"/>
          </p:nvPr>
        </p:nvSpPr>
        <p:spPr>
          <a:xfrm>
            <a:off x="1420761" y="315710"/>
            <a:ext cx="12024852" cy="1149297"/>
          </a:xfrm>
        </p:spPr>
        <p:txBody>
          <a:bodyPr numCol="2">
            <a:normAutofit/>
          </a:bodyPr>
          <a:lstStyle/>
          <a:p>
            <a:pPr algn="l">
              <a:lnSpc>
                <a:spcPct val="200000"/>
              </a:lnSpc>
            </a:pPr>
            <a:r>
              <a:rPr lang="en-US" sz="2200" b="1" kern="100" dirty="0">
                <a:effectLst/>
                <a:latin typeface="Calibri" panose="020F0502020204030204" pitchFamily="34" charset="0"/>
                <a:ea typeface="Calibri" panose="020F0502020204030204" pitchFamily="34" charset="0"/>
                <a:cs typeface="Times New Roman" panose="02020603050405020304" pitchFamily="18" charset="0"/>
              </a:rPr>
              <a:t>XYZ Engine Room Manual Digitization Project Plan</a:t>
            </a:r>
            <a:endParaRPr lang="en-IN" sz="2200" b="1" dirty="0">
              <a:solidFill>
                <a:schemeClr val="tx2"/>
              </a:solidFill>
            </a:endParaRPr>
          </a:p>
        </p:txBody>
      </p:sp>
      <p:sp>
        <p:nvSpPr>
          <p:cNvPr id="3" name="Subtitle 2">
            <a:extLst>
              <a:ext uri="{FF2B5EF4-FFF2-40B4-BE49-F238E27FC236}">
                <a16:creationId xmlns:a16="http://schemas.microsoft.com/office/drawing/2014/main" id="{C188909B-172B-2007-5FD0-27C18457A759}"/>
              </a:ext>
            </a:extLst>
          </p:cNvPr>
          <p:cNvSpPr>
            <a:spLocks noGrp="1"/>
          </p:cNvSpPr>
          <p:nvPr>
            <p:ph type="subTitle" idx="1"/>
          </p:nvPr>
        </p:nvSpPr>
        <p:spPr>
          <a:xfrm>
            <a:off x="1420761" y="2219077"/>
            <a:ext cx="9144000" cy="3906420"/>
          </a:xfrm>
        </p:spPr>
        <p:txBody>
          <a:bodyPr>
            <a:noAutofit/>
          </a:bodyPr>
          <a:lstStyle/>
          <a:p>
            <a:pPr algn="l"/>
            <a:r>
              <a:rPr lang="en-IN" sz="1800" u="sng" dirty="0"/>
              <a:t>Problem Statement: </a:t>
            </a:r>
            <a:r>
              <a:rPr lang="en-US" sz="1800" dirty="0"/>
              <a:t>Ships rely heavily on manual maintenance documentation stored in Engine Room manuals. These documents are often unstructured, paper-based, and not easily accessible during emergencies or routine operations. The lack of digitization leads to delays in task execution, inconsistent maintenance tracking, and potential safety hazards due to missed or improperly executed tasks. This inefficiency poses serious operational and financial risks, especially in scenarios involving critical machinery failures (e.g., water purifiers, engines).</a:t>
            </a:r>
          </a:p>
          <a:p>
            <a:pPr algn="l"/>
            <a:endParaRPr lang="en-US" sz="1800" dirty="0"/>
          </a:p>
          <a:p>
            <a:pPr algn="l"/>
            <a:r>
              <a:rPr lang="en-IN" sz="1800" u="sng" dirty="0"/>
              <a:t>Objective</a:t>
            </a:r>
            <a:r>
              <a:rPr lang="en-US" sz="1800" u="sng" dirty="0"/>
              <a:t>: </a:t>
            </a:r>
            <a:r>
              <a:rPr lang="en-US" sz="1800" dirty="0"/>
              <a:t>To develop a robust, user-centric web application that digitizes the entire Engine Room manual system, enabling structured, role-specific task management and real-time monitoring. The application will integrate digitized manual content, assign maintenance responsibilities based on crew roles, and ensure daily visibility for the Chief Engineer. It aims to empower ship staff with accurate, accessible, and actionable information — reducing operational risks, improving maintenance workflows, and ultimately enhancing onboard safety and accountability.</a:t>
            </a:r>
            <a:endParaRPr lang="en-IN" sz="1800" dirty="0"/>
          </a:p>
        </p:txBody>
      </p:sp>
      <p:sp>
        <p:nvSpPr>
          <p:cNvPr id="4" name="TextBox 3">
            <a:extLst>
              <a:ext uri="{FF2B5EF4-FFF2-40B4-BE49-F238E27FC236}">
                <a16:creationId xmlns:a16="http://schemas.microsoft.com/office/drawing/2014/main" id="{90BAAF4E-64AD-9DD8-9F13-80CB06908965}"/>
              </a:ext>
            </a:extLst>
          </p:cNvPr>
          <p:cNvSpPr txBox="1"/>
          <p:nvPr/>
        </p:nvSpPr>
        <p:spPr>
          <a:xfrm>
            <a:off x="1420761" y="1641987"/>
            <a:ext cx="5909187" cy="400110"/>
          </a:xfrm>
          <a:prstGeom prst="rect">
            <a:avLst/>
          </a:prstGeom>
          <a:noFill/>
        </p:spPr>
        <p:txBody>
          <a:bodyPr wrap="square" rtlCol="0">
            <a:spAutoFit/>
          </a:bodyPr>
          <a:lstStyle/>
          <a:p>
            <a:r>
              <a:rPr lang="en-IN" sz="2000" b="1" dirty="0"/>
              <a:t>Problem statement &amp; Objective </a:t>
            </a:r>
          </a:p>
        </p:txBody>
      </p:sp>
    </p:spTree>
    <p:extLst>
      <p:ext uri="{BB962C8B-B14F-4D97-AF65-F5344CB8AC3E}">
        <p14:creationId xmlns:p14="http://schemas.microsoft.com/office/powerpoint/2010/main" val="3781593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706C6-482B-CAD8-FBD0-E06D9412D526}"/>
              </a:ext>
            </a:extLst>
          </p:cNvPr>
          <p:cNvSpPr>
            <a:spLocks noGrp="1"/>
          </p:cNvSpPr>
          <p:nvPr>
            <p:ph type="title"/>
          </p:nvPr>
        </p:nvSpPr>
        <p:spPr/>
        <p:txBody>
          <a:bodyPr>
            <a:normAutofit/>
          </a:bodyPr>
          <a:lstStyle/>
          <a:p>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High Level Requirements: </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1800" dirty="0"/>
          </a:p>
        </p:txBody>
      </p:sp>
      <p:sp>
        <p:nvSpPr>
          <p:cNvPr id="3" name="Content Placeholder 2">
            <a:extLst>
              <a:ext uri="{FF2B5EF4-FFF2-40B4-BE49-F238E27FC236}">
                <a16:creationId xmlns:a16="http://schemas.microsoft.com/office/drawing/2014/main" id="{54802E09-C338-228A-B582-94CF61992376}"/>
              </a:ext>
            </a:extLst>
          </p:cNvPr>
          <p:cNvSpPr>
            <a:spLocks noGrp="1"/>
          </p:cNvSpPr>
          <p:nvPr>
            <p:ph idx="1"/>
          </p:nvPr>
        </p:nvSpPr>
        <p:spPr>
          <a:xfrm>
            <a:off x="838200" y="1337187"/>
            <a:ext cx="10515600" cy="4839776"/>
          </a:xfrm>
        </p:spPr>
        <p:txBody>
          <a:bodyPr>
            <a:normAutofit/>
          </a:bodyPr>
          <a:lstStyle/>
          <a:p>
            <a:pPr marL="0" indent="0">
              <a:buNone/>
            </a:pPr>
            <a:r>
              <a:rPr lang="en-IN" sz="1800" u="sng" dirty="0">
                <a:latin typeface="Calibri" panose="020F0502020204030204" pitchFamily="34" charset="0"/>
                <a:ea typeface="Calibri" panose="020F0502020204030204" pitchFamily="34" charset="0"/>
                <a:cs typeface="Calibri" panose="020F0502020204030204" pitchFamily="34" charset="0"/>
              </a:rPr>
              <a:t>Manual Digitization</a:t>
            </a:r>
          </a:p>
          <a:p>
            <a:endParaRPr lang="en-IN" sz="1800" dirty="0">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OCR Processing: Convert scanned Engine Room manuals to digital text.</a:t>
            </a: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Categorization: Marine experts will categorize data into Jobs, Components, and Spares.</a:t>
            </a: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QA/QC: Multi-stage verification to ensure data accuracy.</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IN" sz="1800" u="sng" dirty="0">
                <a:latin typeface="Calibri" panose="020F0502020204030204" pitchFamily="34" charset="0"/>
                <a:ea typeface="Calibri" panose="020F0502020204030204" pitchFamily="34" charset="0"/>
                <a:cs typeface="Calibri" panose="020F0502020204030204" pitchFamily="34" charset="0"/>
              </a:rPr>
              <a:t>Web Application Development</a:t>
            </a:r>
          </a:p>
          <a:p>
            <a:pPr eaLnBrk="0" fontAlgn="base" hangingPunct="0">
              <a:lnSpc>
                <a:spcPct val="100000"/>
              </a:lnSpc>
              <a:spcBef>
                <a:spcPct val="0"/>
              </a:spcBef>
              <a:spcAft>
                <a:spcPct val="0"/>
              </a:spcAft>
            </a:pPr>
            <a:endParaRPr lang="en-IN" sz="1800" dirty="0">
              <a:latin typeface="Calibri" panose="020F0502020204030204" pitchFamily="34" charset="0"/>
              <a:ea typeface="Calibri" panose="020F0502020204030204" pitchFamily="34" charset="0"/>
              <a:cs typeface="Calibri" panose="020F0502020204030204" pitchFamily="34" charset="0"/>
            </a:endParaRP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Role-Based System: Task assignment based on crew roles (e.g., Maintenance, Spare Parts).</a:t>
            </a: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Task Tracking: Real-time task progress, work hours, and image uploads.</a:t>
            </a: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Chief Engineer Dashboard: Monitor crew progress and take corrective action in real-time.</a:t>
            </a:r>
          </a:p>
          <a:p>
            <a:pPr eaLnBrk="0" fontAlgn="base" hangingPunct="0">
              <a:lnSpc>
                <a:spcPct val="100000"/>
              </a:lnSpc>
              <a:spcBef>
                <a:spcPct val="0"/>
              </a:spcBef>
              <a:spcAft>
                <a:spcPct val="0"/>
              </a:spcAft>
            </a:pP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Mobile &amp; Offline Access: Accessible across devices with offline caching.</a:t>
            </a:r>
          </a:p>
          <a:p>
            <a:pPr marL="0" marR="0" lvl="0" indent="0" algn="l" defTabSz="914400" rtl="0" eaLnBrk="0" fontAlgn="base" latinLnBrk="0" hangingPunct="0">
              <a:lnSpc>
                <a:spcPct val="100000"/>
              </a:lnSpc>
              <a:spcBef>
                <a:spcPct val="0"/>
              </a:spcBef>
              <a:spcAft>
                <a:spcPct val="0"/>
              </a:spcAft>
              <a:buClrTx/>
              <a:buSzTx/>
              <a:buNone/>
              <a:tabLst/>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57601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35A2A-5749-9AF5-8ED5-866513D04FEC}"/>
              </a:ext>
            </a:extLst>
          </p:cNvPr>
          <p:cNvSpPr>
            <a:spLocks noGrp="1"/>
          </p:cNvSpPr>
          <p:nvPr>
            <p:ph type="title"/>
          </p:nvPr>
        </p:nvSpPr>
        <p:spPr/>
        <p:txBody>
          <a:bodyPr>
            <a:normAutofit/>
          </a:bodyPr>
          <a:lstStyle/>
          <a:p>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Business Drivers and Goals:</a:t>
            </a:r>
            <a:br>
              <a:rPr lang="en-IN" sz="20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2000" dirty="0"/>
          </a:p>
        </p:txBody>
      </p:sp>
      <p:sp>
        <p:nvSpPr>
          <p:cNvPr id="3" name="Content Placeholder 2">
            <a:extLst>
              <a:ext uri="{FF2B5EF4-FFF2-40B4-BE49-F238E27FC236}">
                <a16:creationId xmlns:a16="http://schemas.microsoft.com/office/drawing/2014/main" id="{F8B2078F-B6A9-1BB8-E490-F191C9E1B777}"/>
              </a:ext>
            </a:extLst>
          </p:cNvPr>
          <p:cNvSpPr>
            <a:spLocks noGrp="1"/>
          </p:cNvSpPr>
          <p:nvPr>
            <p:ph idx="1"/>
          </p:nvPr>
        </p:nvSpPr>
        <p:spPr>
          <a:xfrm>
            <a:off x="838200" y="1412670"/>
            <a:ext cx="10515600" cy="4351338"/>
          </a:xfrm>
        </p:spPr>
        <p:txBody>
          <a:bodyPr>
            <a:normAutofit lnSpcReduction="10000"/>
          </a:bodyPr>
          <a:lstStyle/>
          <a:p>
            <a:pPr>
              <a:buNone/>
            </a:pPr>
            <a:r>
              <a:rPr lang="en-US" sz="1800" u="sng" dirty="0">
                <a:latin typeface="Calibri" panose="020F0502020204030204" pitchFamily="34" charset="0"/>
                <a:ea typeface="Calibri" panose="020F0502020204030204" pitchFamily="34" charset="0"/>
                <a:cs typeface="Calibri" panose="020F0502020204030204" pitchFamily="34" charset="0"/>
              </a:rPr>
              <a:t>Business Drivers:</a:t>
            </a: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Safety: Minimize risk of life-threatening situations onboard by ensuring timely maintenance and task completion.</a:t>
            </a: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Operational Efficiency: Streamline task management and reduce human errors, ensuring optimal ship performance.</a:t>
            </a: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Financial Risk Mitigation: Prevent costly repairs and operational disruptions caused by missed maintenance tasks.</a:t>
            </a:r>
          </a:p>
          <a:p>
            <a:pPr marL="0" indent="0">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a:buNone/>
            </a:pPr>
            <a:r>
              <a:rPr lang="en-US" sz="1800" u="sng" dirty="0">
                <a:latin typeface="Calibri" panose="020F0502020204030204" pitchFamily="34" charset="0"/>
                <a:ea typeface="Calibri" panose="020F0502020204030204" pitchFamily="34" charset="0"/>
                <a:cs typeface="Calibri" panose="020F0502020204030204" pitchFamily="34" charset="0"/>
              </a:rPr>
              <a:t>Business Goals:</a:t>
            </a: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100% Accurate Data: Ensure digital manuals reflect manual data with zero errors.</a:t>
            </a: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Role-Specific Task Management: Provide the right data and tasks to the right crew members based on their roles.</a:t>
            </a: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Complete Accountability: Track all tasks, working hours and completed maintenance actions for full transparency.</a:t>
            </a:r>
          </a:p>
          <a:p>
            <a:endParaRPr lang="en-IN"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709410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D1CE5B0-F00A-334F-C14F-0C0DC07B3474}"/>
              </a:ext>
            </a:extLst>
          </p:cNvPr>
          <p:cNvSpPr txBox="1">
            <a:spLocks noGrp="1"/>
          </p:cNvSpPr>
          <p:nvPr>
            <p:ph idx="1"/>
          </p:nvPr>
        </p:nvSpPr>
        <p:spPr>
          <a:xfrm>
            <a:off x="838200" y="1455174"/>
            <a:ext cx="10515600" cy="5270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1800" u="sng" dirty="0">
                <a:latin typeface="Calibri" panose="020F0502020204030204" pitchFamily="34" charset="0"/>
                <a:ea typeface="Calibri" panose="020F0502020204030204" pitchFamily="34" charset="0"/>
                <a:cs typeface="Calibri" panose="020F0502020204030204" pitchFamily="34" charset="0"/>
              </a:rPr>
              <a:t>Business Implications:</a:t>
            </a: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Improved Decision Making: Real-time access to accurate task data allows better operational oversight and quick corrective actions.</a:t>
            </a: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Increased Crew Accountability: Real-time task logging and status tracking ensures every crew member is responsible for their assigned tasks.</a:t>
            </a: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Scalability: The system can expand as more manuals or tasks are added, supporting future needs.</a:t>
            </a:r>
          </a:p>
          <a:p>
            <a:pPr marL="0" indent="0">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a:buNone/>
            </a:pPr>
            <a:r>
              <a:rPr lang="en-US" sz="1800" u="sng" dirty="0">
                <a:latin typeface="Calibri" panose="020F0502020204030204" pitchFamily="34" charset="0"/>
                <a:ea typeface="Calibri" panose="020F0502020204030204" pitchFamily="34" charset="0"/>
                <a:cs typeface="Calibri" panose="020F0502020204030204" pitchFamily="34" charset="0"/>
              </a:rPr>
              <a:t>System Implications:</a:t>
            </a: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Data Integrity: Ensuring 100% accurate transfer and categorization of manual data is critical to avoid safety risks.</a:t>
            </a: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Role-Based Access: The system must ensure data and tasks are assigned based on each crew member’s role.</a:t>
            </a: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High Availability: The system should be robust enough to handle 24/7 use onboard, with minimal downtime, especially in low-connectivity environments.</a:t>
            </a: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Security: Implement stringent security protocols to protect sensitive data and prevent unauthorized access.</a:t>
            </a:r>
          </a:p>
        </p:txBody>
      </p:sp>
      <p:sp>
        <p:nvSpPr>
          <p:cNvPr id="4" name="Title 1">
            <a:extLst>
              <a:ext uri="{FF2B5EF4-FFF2-40B4-BE49-F238E27FC236}">
                <a16:creationId xmlns:a16="http://schemas.microsoft.com/office/drawing/2014/main" id="{05775616-DC08-2868-51FE-5147ED0A4B2A}"/>
              </a:ext>
            </a:extLst>
          </p:cNvPr>
          <p:cNvSpPr txBox="1">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effectLst/>
                <a:latin typeface="Calibri" panose="020F0502020204030204" pitchFamily="34" charset="0"/>
                <a:ea typeface="Calibri" panose="020F0502020204030204" pitchFamily="34" charset="0"/>
                <a:cs typeface="Times New Roman" panose="02020603050405020304" pitchFamily="18" charset="0"/>
              </a:rPr>
              <a:t>Business and System Implications:</a:t>
            </a:r>
            <a:endParaRPr lang="en-IN" sz="2000" dirty="0"/>
          </a:p>
        </p:txBody>
      </p:sp>
    </p:spTree>
    <p:extLst>
      <p:ext uri="{BB962C8B-B14F-4D97-AF65-F5344CB8AC3E}">
        <p14:creationId xmlns:p14="http://schemas.microsoft.com/office/powerpoint/2010/main" val="717986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06323-2B88-5EC0-19EE-898224574E21}"/>
              </a:ext>
            </a:extLst>
          </p:cNvPr>
          <p:cNvSpPr>
            <a:spLocks noGrp="1"/>
          </p:cNvSpPr>
          <p:nvPr>
            <p:ph type="title"/>
          </p:nvPr>
        </p:nvSpPr>
        <p:spPr/>
        <p:txBody>
          <a:bodyPr>
            <a:normAutofit/>
          </a:bodyPr>
          <a:lstStyle/>
          <a:p>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Engagement Type &amp; Pricing Model:</a:t>
            </a:r>
            <a:br>
              <a:rPr lang="en-IN" sz="2000" kern="100" dirty="0">
                <a:effectLst/>
                <a:latin typeface="Calibri" panose="020F0502020204030204" pitchFamily="34" charset="0"/>
                <a:ea typeface="Calibri" panose="020F0502020204030204" pitchFamily="34" charset="0"/>
                <a:cs typeface="Times New Roman" panose="02020603050405020304" pitchFamily="18" charset="0"/>
              </a:rPr>
            </a:br>
            <a:br>
              <a:rPr lang="en-IN" sz="20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2000" dirty="0"/>
          </a:p>
        </p:txBody>
      </p:sp>
      <p:sp>
        <p:nvSpPr>
          <p:cNvPr id="3" name="Content Placeholder 2">
            <a:extLst>
              <a:ext uri="{FF2B5EF4-FFF2-40B4-BE49-F238E27FC236}">
                <a16:creationId xmlns:a16="http://schemas.microsoft.com/office/drawing/2014/main" id="{9D057E9A-B5EF-0373-9A95-567D1D1D90EC}"/>
              </a:ext>
            </a:extLst>
          </p:cNvPr>
          <p:cNvSpPr>
            <a:spLocks noGrp="1"/>
          </p:cNvSpPr>
          <p:nvPr>
            <p:ph idx="1"/>
          </p:nvPr>
        </p:nvSpPr>
        <p:spPr>
          <a:xfrm>
            <a:off x="838198" y="1150741"/>
            <a:ext cx="10515600" cy="4351338"/>
          </a:xfrm>
        </p:spPr>
        <p:txBody>
          <a:bodyPr>
            <a:normAutofit/>
          </a:bodyPr>
          <a:lstStyle/>
          <a:p>
            <a:pPr>
              <a:buNone/>
            </a:pPr>
            <a:r>
              <a:rPr lang="en-US" sz="1800" u="sng" dirty="0">
                <a:latin typeface="Calibri" panose="020F0502020204030204" pitchFamily="34" charset="0"/>
                <a:ea typeface="Calibri" panose="020F0502020204030204" pitchFamily="34" charset="0"/>
                <a:cs typeface="Calibri" panose="020F0502020204030204" pitchFamily="34" charset="0"/>
              </a:rPr>
              <a:t>Engagement Type:</a:t>
            </a: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Fixed-Price Engagement based on agreed deliverables and milestones.</a:t>
            </a: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Phased approach with clear checkpoints to ensure quality and progress.</a:t>
            </a:r>
          </a:p>
          <a:p>
            <a:pPr>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a:buNone/>
            </a:pPr>
            <a:r>
              <a:rPr lang="en-US" sz="1800" u="sng" dirty="0">
                <a:latin typeface="Calibri" panose="020F0502020204030204" pitchFamily="34" charset="0"/>
                <a:ea typeface="Calibri" panose="020F0502020204030204" pitchFamily="34" charset="0"/>
                <a:cs typeface="Calibri" panose="020F0502020204030204" pitchFamily="34" charset="0"/>
              </a:rPr>
              <a:t>Pricing Model:</a:t>
            </a: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Milestone-Based Payments: Payments tied to the completion of specific project phases.</a:t>
            </a:r>
          </a:p>
          <a:p>
            <a:pPr marL="742950" lvl="1"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Milestone 1: OCR and Manual Categorization Completion.</a:t>
            </a:r>
          </a:p>
          <a:p>
            <a:pPr marL="742950" lvl="1"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Milestone 2: Web Application Development.</a:t>
            </a:r>
          </a:p>
          <a:p>
            <a:pPr marL="742950" lvl="1"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Milestone 3: Final Testing, Deployment, and Handover.</a:t>
            </a:r>
          </a:p>
          <a:p>
            <a:endParaRPr lang="en-IN"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54071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412525FC-4415-9ED2-9F0A-284D0CEECAEB}"/>
              </a:ext>
            </a:extLst>
          </p:cNvPr>
          <p:cNvGraphicFramePr>
            <a:graphicFrameLocks noGrp="1"/>
          </p:cNvGraphicFramePr>
          <p:nvPr>
            <p:extLst>
              <p:ext uri="{D42A27DB-BD31-4B8C-83A1-F6EECF244321}">
                <p14:modId xmlns:p14="http://schemas.microsoft.com/office/powerpoint/2010/main" val="3851058887"/>
              </p:ext>
            </p:extLst>
          </p:nvPr>
        </p:nvGraphicFramePr>
        <p:xfrm>
          <a:off x="1" y="609601"/>
          <a:ext cx="12191999" cy="6248399"/>
        </p:xfrm>
        <a:graphic>
          <a:graphicData uri="http://schemas.openxmlformats.org/drawingml/2006/table">
            <a:tbl>
              <a:tblPr>
                <a:tableStyleId>{5C22544A-7EE6-4342-B048-85BDC9FD1C3A}</a:tableStyleId>
              </a:tblPr>
              <a:tblGrid>
                <a:gridCol w="2502010">
                  <a:extLst>
                    <a:ext uri="{9D8B030D-6E8A-4147-A177-3AD203B41FA5}">
                      <a16:colId xmlns:a16="http://schemas.microsoft.com/office/drawing/2014/main" val="3056162107"/>
                    </a:ext>
                  </a:extLst>
                </a:gridCol>
                <a:gridCol w="2502010">
                  <a:extLst>
                    <a:ext uri="{9D8B030D-6E8A-4147-A177-3AD203B41FA5}">
                      <a16:colId xmlns:a16="http://schemas.microsoft.com/office/drawing/2014/main" val="3047017084"/>
                    </a:ext>
                  </a:extLst>
                </a:gridCol>
                <a:gridCol w="2395993">
                  <a:extLst>
                    <a:ext uri="{9D8B030D-6E8A-4147-A177-3AD203B41FA5}">
                      <a16:colId xmlns:a16="http://schemas.microsoft.com/office/drawing/2014/main" val="852451078"/>
                    </a:ext>
                  </a:extLst>
                </a:gridCol>
                <a:gridCol w="2395993">
                  <a:extLst>
                    <a:ext uri="{9D8B030D-6E8A-4147-A177-3AD203B41FA5}">
                      <a16:colId xmlns:a16="http://schemas.microsoft.com/office/drawing/2014/main" val="562458789"/>
                    </a:ext>
                  </a:extLst>
                </a:gridCol>
                <a:gridCol w="2395993">
                  <a:extLst>
                    <a:ext uri="{9D8B030D-6E8A-4147-A177-3AD203B41FA5}">
                      <a16:colId xmlns:a16="http://schemas.microsoft.com/office/drawing/2014/main" val="1326911374"/>
                    </a:ext>
                  </a:extLst>
                </a:gridCol>
              </a:tblGrid>
              <a:tr h="286186">
                <a:tc>
                  <a:txBody>
                    <a:bodyPr/>
                    <a:lstStyle/>
                    <a:p>
                      <a:pPr algn="ctr" fontAlgn="ctr"/>
                      <a:r>
                        <a:rPr lang="en-IN" sz="900" u="none" strike="noStrike" dirty="0">
                          <a:effectLst/>
                        </a:rPr>
                        <a:t>Phase</a:t>
                      </a:r>
                      <a:endParaRPr lang="en-IN" sz="900" b="1" i="0" u="none" strike="noStrike" dirty="0">
                        <a:solidFill>
                          <a:srgbClr val="FFFFFF"/>
                        </a:solidFill>
                        <a:effectLst/>
                        <a:latin typeface="Segoe UI" panose="020B0502040204020203" pitchFamily="34" charset="0"/>
                      </a:endParaRPr>
                    </a:p>
                  </a:txBody>
                  <a:tcPr marL="7620" marR="7620" marT="7620" marB="0" anchor="ctr"/>
                </a:tc>
                <a:tc>
                  <a:txBody>
                    <a:bodyPr/>
                    <a:lstStyle/>
                    <a:p>
                      <a:pPr algn="ctr" fontAlgn="ctr"/>
                      <a:r>
                        <a:rPr lang="en-IN" sz="900" u="none" strike="noStrike">
                          <a:effectLst/>
                        </a:rPr>
                        <a:t>Weeks</a:t>
                      </a:r>
                      <a:endParaRPr lang="en-IN" sz="900" b="1" i="0" u="none" strike="noStrike">
                        <a:solidFill>
                          <a:srgbClr val="FFFFFF"/>
                        </a:solidFill>
                        <a:effectLst/>
                        <a:latin typeface="Segoe UI" panose="020B0502040204020203" pitchFamily="34" charset="0"/>
                      </a:endParaRPr>
                    </a:p>
                  </a:txBody>
                  <a:tcPr marL="7620" marR="7620" marT="7620" marB="0" anchor="ctr"/>
                </a:tc>
                <a:tc>
                  <a:txBody>
                    <a:bodyPr/>
                    <a:lstStyle/>
                    <a:p>
                      <a:pPr algn="ctr" fontAlgn="ctr"/>
                      <a:r>
                        <a:rPr lang="en-IN" sz="900" u="none" strike="noStrike">
                          <a:effectLst/>
                        </a:rPr>
                        <a:t>Key Activities</a:t>
                      </a:r>
                      <a:endParaRPr lang="en-IN" sz="900" b="1" i="0" u="none" strike="noStrike">
                        <a:solidFill>
                          <a:srgbClr val="FFFFFF"/>
                        </a:solidFill>
                        <a:effectLst/>
                        <a:latin typeface="Segoe UI" panose="020B0502040204020203" pitchFamily="34" charset="0"/>
                      </a:endParaRPr>
                    </a:p>
                  </a:txBody>
                  <a:tcPr marL="7620" marR="7620" marT="7620" marB="0" anchor="ctr"/>
                </a:tc>
                <a:tc>
                  <a:txBody>
                    <a:bodyPr/>
                    <a:lstStyle/>
                    <a:p>
                      <a:pPr algn="ctr" fontAlgn="ctr"/>
                      <a:r>
                        <a:rPr lang="en-IN" sz="900" u="none" strike="noStrike">
                          <a:effectLst/>
                        </a:rPr>
                        <a:t>Deliverables</a:t>
                      </a:r>
                      <a:endParaRPr lang="en-IN" sz="900" b="1" i="0" u="none" strike="noStrike">
                        <a:solidFill>
                          <a:srgbClr val="FFFFFF"/>
                        </a:solidFill>
                        <a:effectLst/>
                        <a:latin typeface="Segoe UI" panose="020B0502040204020203" pitchFamily="34" charset="0"/>
                      </a:endParaRPr>
                    </a:p>
                  </a:txBody>
                  <a:tcPr marL="7620" marR="7620" marT="7620" marB="0" anchor="ctr"/>
                </a:tc>
                <a:tc>
                  <a:txBody>
                    <a:bodyPr/>
                    <a:lstStyle/>
                    <a:p>
                      <a:pPr algn="ctr" fontAlgn="ctr"/>
                      <a:r>
                        <a:rPr lang="en-IN" sz="900" u="none" strike="noStrike">
                          <a:effectLst/>
                        </a:rPr>
                        <a:t>Quality Gates</a:t>
                      </a:r>
                      <a:endParaRPr lang="en-IN" sz="900" b="1" i="0" u="none" strike="noStrike">
                        <a:solidFill>
                          <a:srgbClr val="FFFFFF"/>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919750227"/>
                  </a:ext>
                </a:extLst>
              </a:tr>
              <a:tr h="524675">
                <a:tc rowSpan="3">
                  <a:txBody>
                    <a:bodyPr/>
                    <a:lstStyle/>
                    <a:p>
                      <a:pPr algn="l" fontAlgn="ctr"/>
                      <a:r>
                        <a:rPr lang="en-IN" sz="900" u="none" strike="noStrike">
                          <a:effectLst/>
                        </a:rPr>
                        <a:t>Phase 1: Planning</a:t>
                      </a:r>
                      <a:endParaRPr lang="en-IN" sz="900" b="1" i="0" u="none" strike="noStrike">
                        <a:solidFill>
                          <a:srgbClr val="404040"/>
                        </a:solidFill>
                        <a:effectLst/>
                        <a:latin typeface="Segoe UI" panose="020B0502040204020203" pitchFamily="34" charset="0"/>
                      </a:endParaRPr>
                    </a:p>
                  </a:txBody>
                  <a:tcPr marL="7620" marR="7620" marT="7620" marB="0" anchor="ctr"/>
                </a:tc>
                <a:tc rowSpan="3">
                  <a:txBody>
                    <a:bodyPr/>
                    <a:lstStyle/>
                    <a:p>
                      <a:pPr algn="l" fontAlgn="ctr"/>
                      <a:r>
                        <a:rPr lang="en-IN" sz="900" u="none" strike="noStrike">
                          <a:effectLst/>
                        </a:rPr>
                        <a:t>Week 1-2</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Manual scanning setup</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Scan quality report</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US" sz="900" u="none" strike="noStrike">
                          <a:effectLst/>
                        </a:rPr>
                        <a:t>- 100% manual scans at 300+ DPI</a:t>
                      </a:r>
                      <a:endParaRPr lang="en-US" sz="900" b="0" i="0" u="none" strike="noStrike">
                        <a:solidFill>
                          <a:srgbClr val="404040"/>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3290072299"/>
                  </a:ext>
                </a:extLst>
              </a:tr>
              <a:tr h="524675">
                <a:tc vMerge="1">
                  <a:txBody>
                    <a:bodyPr/>
                    <a:lstStyle/>
                    <a:p>
                      <a:endParaRPr lang="en-IN"/>
                    </a:p>
                  </a:txBody>
                  <a:tcPr/>
                </a:tc>
                <a:tc vMerge="1">
                  <a:txBody>
                    <a:bodyPr/>
                    <a:lstStyle/>
                    <a:p>
                      <a:endParaRPr lang="en-IN"/>
                    </a:p>
                  </a:txBody>
                  <a:tcPr/>
                </a:tc>
                <a:tc>
                  <a:txBody>
                    <a:bodyPr/>
                    <a:lstStyle/>
                    <a:p>
                      <a:pPr algn="l" fontAlgn="ctr"/>
                      <a:r>
                        <a:rPr lang="en-IN" sz="900" u="none" strike="noStrike" dirty="0">
                          <a:effectLst/>
                        </a:rPr>
                        <a:t>- UI/UX wireframe approval</a:t>
                      </a:r>
                      <a:endParaRPr lang="en-IN" sz="900" b="0" i="0" u="none" strike="noStrike" dirty="0">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Signed-off prototypes</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dirty="0">
                          <a:effectLst/>
                        </a:rPr>
                        <a:t>- XYZ design approval</a:t>
                      </a:r>
                      <a:endParaRPr lang="en-IN" sz="900" b="0" i="0" u="none" strike="noStrike" dirty="0">
                        <a:solidFill>
                          <a:srgbClr val="404040"/>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3963494258"/>
                  </a:ext>
                </a:extLst>
              </a:tr>
              <a:tr h="524675">
                <a:tc vMerge="1">
                  <a:txBody>
                    <a:bodyPr/>
                    <a:lstStyle/>
                    <a:p>
                      <a:endParaRPr lang="en-IN"/>
                    </a:p>
                  </a:txBody>
                  <a:tcPr/>
                </a:tc>
                <a:tc vMerge="1">
                  <a:txBody>
                    <a:bodyPr/>
                    <a:lstStyle/>
                    <a:p>
                      <a:endParaRPr lang="en-IN"/>
                    </a:p>
                  </a:txBody>
                  <a:tcPr/>
                </a:tc>
                <a:tc>
                  <a:txBody>
                    <a:bodyPr/>
                    <a:lstStyle/>
                    <a:p>
                      <a:pPr algn="l" fontAlgn="ctr"/>
                      <a:r>
                        <a:rPr lang="en-IN" sz="900" u="none" strike="noStrike">
                          <a:effectLst/>
                        </a:rPr>
                        <a:t>- Marine engineer onboarding</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a:t>
                      </a:r>
                      <a:endParaRPr lang="en-IN" sz="900" b="0" i="0" u="none" strike="noStrike">
                        <a:solidFill>
                          <a:srgbClr val="404040"/>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3632546425"/>
                  </a:ext>
                </a:extLst>
              </a:tr>
              <a:tr h="286186">
                <a:tc rowSpan="3">
                  <a:txBody>
                    <a:bodyPr/>
                    <a:lstStyle/>
                    <a:p>
                      <a:pPr algn="l" fontAlgn="ctr"/>
                      <a:r>
                        <a:rPr lang="en-IN" sz="900" u="none" strike="noStrike" dirty="0">
                          <a:effectLst/>
                        </a:rPr>
                        <a:t>Phase 2: Digitization</a:t>
                      </a:r>
                      <a:endParaRPr lang="en-IN" sz="900" b="1" i="0" u="none" strike="noStrike" dirty="0">
                        <a:solidFill>
                          <a:srgbClr val="404040"/>
                        </a:solidFill>
                        <a:effectLst/>
                        <a:latin typeface="Segoe UI" panose="020B0502040204020203" pitchFamily="34" charset="0"/>
                      </a:endParaRPr>
                    </a:p>
                  </a:txBody>
                  <a:tcPr marL="7620" marR="7620" marT="7620" marB="0" anchor="ctr"/>
                </a:tc>
                <a:tc rowSpan="3">
                  <a:txBody>
                    <a:bodyPr/>
                    <a:lstStyle/>
                    <a:p>
                      <a:pPr algn="l" fontAlgn="ctr"/>
                      <a:r>
                        <a:rPr lang="en-IN" sz="900" u="none" strike="noStrike" dirty="0">
                          <a:effectLst/>
                        </a:rPr>
                        <a:t>Week 3-6</a:t>
                      </a:r>
                      <a:endParaRPr lang="en-IN" sz="900" b="0" i="0" u="none" strike="noStrike" dirty="0">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OCR processing</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Structured Excel/CSV files</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OCR accuracy ≥98%</a:t>
                      </a:r>
                      <a:endParaRPr lang="en-IN" sz="900" b="0" i="0" u="none" strike="noStrike">
                        <a:solidFill>
                          <a:srgbClr val="404040"/>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1902309558"/>
                  </a:ext>
                </a:extLst>
              </a:tr>
              <a:tr h="524675">
                <a:tc vMerge="1">
                  <a:txBody>
                    <a:bodyPr/>
                    <a:lstStyle/>
                    <a:p>
                      <a:endParaRPr lang="en-IN"/>
                    </a:p>
                  </a:txBody>
                  <a:tcPr/>
                </a:tc>
                <a:tc vMerge="1">
                  <a:txBody>
                    <a:bodyPr/>
                    <a:lstStyle/>
                    <a:p>
                      <a:endParaRPr lang="en-IN"/>
                    </a:p>
                  </a:txBody>
                  <a:tcPr/>
                </a:tc>
                <a:tc>
                  <a:txBody>
                    <a:bodyPr/>
                    <a:lstStyle/>
                    <a:p>
                      <a:pPr algn="l" fontAlgn="ctr"/>
                      <a:r>
                        <a:rPr lang="en-US" sz="900" u="none" strike="noStrike">
                          <a:effectLst/>
                        </a:rPr>
                        <a:t>- Data categorization (Jobs/Components/Spares)</a:t>
                      </a:r>
                      <a:endParaRPr lang="en-US"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Data validation report</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- 100% peer-reviewed categorization</a:t>
                      </a:r>
                      <a:endParaRPr lang="en-IN" sz="900" b="0" i="0" u="none" strike="noStrike">
                        <a:solidFill>
                          <a:srgbClr val="404040"/>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3138414742"/>
                  </a:ext>
                </a:extLst>
              </a:tr>
              <a:tr h="286186">
                <a:tc vMerge="1">
                  <a:txBody>
                    <a:bodyPr/>
                    <a:lstStyle/>
                    <a:p>
                      <a:endParaRPr lang="en-IN"/>
                    </a:p>
                  </a:txBody>
                  <a:tcPr/>
                </a:tc>
                <a:tc vMerge="1">
                  <a:txBody>
                    <a:bodyPr/>
                    <a:lstStyle/>
                    <a:p>
                      <a:endParaRPr lang="en-IN"/>
                    </a:p>
                  </a:txBody>
                  <a:tcPr/>
                </a:tc>
                <a:tc>
                  <a:txBody>
                    <a:bodyPr/>
                    <a:lstStyle/>
                    <a:p>
                      <a:pPr algn="l" fontAlgn="ctr"/>
                      <a:r>
                        <a:rPr lang="en-IN" sz="900" u="none" strike="noStrike">
                          <a:effectLst/>
                        </a:rPr>
                        <a:t>- QA validation</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a:t>
                      </a:r>
                      <a:endParaRPr lang="en-IN" sz="900" b="0" i="0" u="none" strike="noStrike">
                        <a:solidFill>
                          <a:srgbClr val="404040"/>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3779375589"/>
                  </a:ext>
                </a:extLst>
              </a:tr>
              <a:tr h="524675">
                <a:tc rowSpan="3">
                  <a:txBody>
                    <a:bodyPr/>
                    <a:lstStyle/>
                    <a:p>
                      <a:pPr algn="l" fontAlgn="ctr"/>
                      <a:r>
                        <a:rPr lang="en-IN" sz="900" u="none" strike="noStrike">
                          <a:effectLst/>
                        </a:rPr>
                        <a:t>Phase 3: Development</a:t>
                      </a:r>
                      <a:endParaRPr lang="en-IN" sz="900" b="1" i="0" u="none" strike="noStrike">
                        <a:solidFill>
                          <a:srgbClr val="404040"/>
                        </a:solidFill>
                        <a:effectLst/>
                        <a:latin typeface="Segoe UI" panose="020B0502040204020203" pitchFamily="34" charset="0"/>
                      </a:endParaRPr>
                    </a:p>
                  </a:txBody>
                  <a:tcPr marL="7620" marR="7620" marT="7620" marB="0" anchor="ctr"/>
                </a:tc>
                <a:tc rowSpan="3">
                  <a:txBody>
                    <a:bodyPr/>
                    <a:lstStyle/>
                    <a:p>
                      <a:pPr algn="l" fontAlgn="ctr"/>
                      <a:r>
                        <a:rPr lang="en-IN" sz="900" u="none" strike="noStrike" dirty="0">
                          <a:effectLst/>
                        </a:rPr>
                        <a:t>Week 3-8</a:t>
                      </a:r>
                      <a:endParaRPr lang="en-IN" sz="900" b="0" i="0" u="none" strike="noStrike" dirty="0">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Backend API development</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Functional web app</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dirty="0">
                          <a:effectLst/>
                        </a:rPr>
                        <a:t>- 100% unit test coverage</a:t>
                      </a:r>
                      <a:endParaRPr lang="en-IN" sz="900" b="0" i="0" u="none" strike="noStrike" dirty="0">
                        <a:solidFill>
                          <a:srgbClr val="404040"/>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2195485523"/>
                  </a:ext>
                </a:extLst>
              </a:tr>
              <a:tr h="286186">
                <a:tc vMerge="1">
                  <a:txBody>
                    <a:bodyPr/>
                    <a:lstStyle/>
                    <a:p>
                      <a:endParaRPr lang="en-IN"/>
                    </a:p>
                  </a:txBody>
                  <a:tcPr/>
                </a:tc>
                <a:tc vMerge="1">
                  <a:txBody>
                    <a:bodyPr/>
                    <a:lstStyle/>
                    <a:p>
                      <a:endParaRPr lang="en-IN"/>
                    </a:p>
                  </a:txBody>
                  <a:tcPr/>
                </a:tc>
                <a:tc>
                  <a:txBody>
                    <a:bodyPr/>
                    <a:lstStyle/>
                    <a:p>
                      <a:pPr algn="l" fontAlgn="ctr"/>
                      <a:r>
                        <a:rPr lang="en-IN" sz="900" u="none" strike="noStrike">
                          <a:effectLst/>
                        </a:rPr>
                        <a:t>- Frontend integration</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Test automation scripts</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≤0.5 defects/100 LOC</a:t>
                      </a:r>
                      <a:endParaRPr lang="en-IN" sz="900" b="0" i="0" u="none" strike="noStrike">
                        <a:solidFill>
                          <a:srgbClr val="404040"/>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2279141908"/>
                  </a:ext>
                </a:extLst>
              </a:tr>
              <a:tr h="286186">
                <a:tc vMerge="1">
                  <a:txBody>
                    <a:bodyPr/>
                    <a:lstStyle/>
                    <a:p>
                      <a:endParaRPr lang="en-IN"/>
                    </a:p>
                  </a:txBody>
                  <a:tcPr/>
                </a:tc>
                <a:tc vMerge="1">
                  <a:txBody>
                    <a:bodyPr/>
                    <a:lstStyle/>
                    <a:p>
                      <a:endParaRPr lang="en-IN"/>
                    </a:p>
                  </a:txBody>
                  <a:tcPr/>
                </a:tc>
                <a:tc>
                  <a:txBody>
                    <a:bodyPr/>
                    <a:lstStyle/>
                    <a:p>
                      <a:pPr algn="l" fontAlgn="ctr"/>
                      <a:r>
                        <a:rPr lang="en-IN" sz="900" u="none" strike="noStrike">
                          <a:effectLst/>
                        </a:rPr>
                        <a:t>- Role-based logic testing</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a:t>
                      </a:r>
                      <a:endParaRPr lang="en-IN" sz="900" b="0" i="0" u="none" strike="noStrike">
                        <a:solidFill>
                          <a:srgbClr val="404040"/>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1910427742"/>
                  </a:ext>
                </a:extLst>
              </a:tr>
              <a:tr h="286186">
                <a:tc rowSpan="3">
                  <a:txBody>
                    <a:bodyPr/>
                    <a:lstStyle/>
                    <a:p>
                      <a:pPr algn="l" fontAlgn="ctr"/>
                      <a:r>
                        <a:rPr lang="en-IN" sz="900" u="none" strike="noStrike">
                          <a:effectLst/>
                        </a:rPr>
                        <a:t>Phase 4: UAT</a:t>
                      </a:r>
                      <a:endParaRPr lang="en-IN" sz="900" b="1" i="0" u="none" strike="noStrike">
                        <a:solidFill>
                          <a:srgbClr val="404040"/>
                        </a:solidFill>
                        <a:effectLst/>
                        <a:latin typeface="Segoe UI" panose="020B0502040204020203" pitchFamily="34" charset="0"/>
                      </a:endParaRPr>
                    </a:p>
                  </a:txBody>
                  <a:tcPr marL="7620" marR="7620" marT="7620" marB="0" anchor="ctr"/>
                </a:tc>
                <a:tc rowSpan="3">
                  <a:txBody>
                    <a:bodyPr/>
                    <a:lstStyle/>
                    <a:p>
                      <a:pPr algn="l" fontAlgn="ctr"/>
                      <a:r>
                        <a:rPr lang="en-IN" sz="900" u="none" strike="noStrike">
                          <a:effectLst/>
                        </a:rPr>
                        <a:t>Week 7-8</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Crew testing (real tasks)</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UAT sign-off document</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≥90% user satisfaction</a:t>
                      </a:r>
                      <a:endParaRPr lang="en-IN" sz="900" b="0" i="0" u="none" strike="noStrike">
                        <a:solidFill>
                          <a:srgbClr val="404040"/>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2933819034"/>
                  </a:ext>
                </a:extLst>
              </a:tr>
              <a:tr h="524675">
                <a:tc vMerge="1">
                  <a:txBody>
                    <a:bodyPr/>
                    <a:lstStyle/>
                    <a:p>
                      <a:endParaRPr lang="en-IN"/>
                    </a:p>
                  </a:txBody>
                  <a:tcPr/>
                </a:tc>
                <a:tc vMerge="1">
                  <a:txBody>
                    <a:bodyPr/>
                    <a:lstStyle/>
                    <a:p>
                      <a:endParaRPr lang="en-IN"/>
                    </a:p>
                  </a:txBody>
                  <a:tcPr/>
                </a:tc>
                <a:tc>
                  <a:txBody>
                    <a:bodyPr/>
                    <a:lstStyle/>
                    <a:p>
                      <a:pPr algn="l" fontAlgn="ctr"/>
                      <a:r>
                        <a:rPr lang="en-IN" sz="900" u="none" strike="noStrike">
                          <a:effectLst/>
                        </a:rPr>
                        <a:t>- Chief Engineer reporting validation</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Priority bug list</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- 100% critical bugs resolved</a:t>
                      </a:r>
                      <a:endParaRPr lang="en-IN" sz="900" b="0" i="0" u="none" strike="noStrike">
                        <a:solidFill>
                          <a:srgbClr val="404040"/>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2058058704"/>
                  </a:ext>
                </a:extLst>
              </a:tr>
              <a:tr h="286186">
                <a:tc vMerge="1">
                  <a:txBody>
                    <a:bodyPr/>
                    <a:lstStyle/>
                    <a:p>
                      <a:endParaRPr lang="en-IN"/>
                    </a:p>
                  </a:txBody>
                  <a:tcPr/>
                </a:tc>
                <a:tc vMerge="1">
                  <a:txBody>
                    <a:bodyPr/>
                    <a:lstStyle/>
                    <a:p>
                      <a:endParaRPr lang="en-IN"/>
                    </a:p>
                  </a:txBody>
                  <a:tcPr/>
                </a:tc>
                <a:tc>
                  <a:txBody>
                    <a:bodyPr/>
                    <a:lstStyle/>
                    <a:p>
                      <a:pPr algn="l" fontAlgn="ctr"/>
                      <a:r>
                        <a:rPr lang="en-IN" sz="900" u="none" strike="noStrike">
                          <a:effectLst/>
                        </a:rPr>
                        <a:t>- Bug fixes</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a:t>
                      </a:r>
                      <a:endParaRPr lang="en-IN" sz="900" b="0" i="0" u="none" strike="noStrike">
                        <a:solidFill>
                          <a:srgbClr val="404040"/>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1515227946"/>
                  </a:ext>
                </a:extLst>
              </a:tr>
              <a:tr h="286186">
                <a:tc rowSpan="3">
                  <a:txBody>
                    <a:bodyPr/>
                    <a:lstStyle/>
                    <a:p>
                      <a:pPr algn="l" fontAlgn="ctr"/>
                      <a:r>
                        <a:rPr lang="en-IN" sz="900" u="none" strike="noStrike">
                          <a:effectLst/>
                        </a:rPr>
                        <a:t>Phase 5: Deployment</a:t>
                      </a:r>
                      <a:endParaRPr lang="en-IN" sz="900" b="1" i="0" u="none" strike="noStrike">
                        <a:solidFill>
                          <a:srgbClr val="404040"/>
                        </a:solidFill>
                        <a:effectLst/>
                        <a:latin typeface="Segoe UI" panose="020B0502040204020203" pitchFamily="34" charset="0"/>
                      </a:endParaRPr>
                    </a:p>
                  </a:txBody>
                  <a:tcPr marL="7620" marR="7620" marT="7620" marB="0" anchor="ctr"/>
                </a:tc>
                <a:tc rowSpan="3">
                  <a:txBody>
                    <a:bodyPr/>
                    <a:lstStyle/>
                    <a:p>
                      <a:pPr algn="l" fontAlgn="ctr"/>
                      <a:r>
                        <a:rPr lang="en-IN" sz="900" u="none" strike="noStrike">
                          <a:effectLst/>
                        </a:rPr>
                        <a:t>Week 9-12</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Production rollout</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Live system</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- 99.5% uptime SLA</a:t>
                      </a:r>
                      <a:endParaRPr lang="en-IN" sz="900" b="0" i="0" u="none" strike="noStrike">
                        <a:solidFill>
                          <a:srgbClr val="404040"/>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3220352378"/>
                  </a:ext>
                </a:extLst>
              </a:tr>
              <a:tr h="524675">
                <a:tc vMerge="1">
                  <a:txBody>
                    <a:bodyPr/>
                    <a:lstStyle/>
                    <a:p>
                      <a:endParaRPr lang="en-IN"/>
                    </a:p>
                  </a:txBody>
                  <a:tcPr/>
                </a:tc>
                <a:tc vMerge="1">
                  <a:txBody>
                    <a:bodyPr/>
                    <a:lstStyle/>
                    <a:p>
                      <a:endParaRPr lang="en-IN"/>
                    </a:p>
                  </a:txBody>
                  <a:tcPr/>
                </a:tc>
                <a:tc>
                  <a:txBody>
                    <a:bodyPr/>
                    <a:lstStyle/>
                    <a:p>
                      <a:pPr algn="l" fontAlgn="ctr"/>
                      <a:r>
                        <a:rPr lang="en-IN" sz="900" u="none" strike="noStrike">
                          <a:effectLst/>
                        </a:rPr>
                        <a:t>- Crew training</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Training materials</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a:effectLst/>
                        </a:rPr>
                        <a:t>- 100% training completion</a:t>
                      </a:r>
                      <a:endParaRPr lang="en-IN" sz="900" b="0" i="0" u="none" strike="noStrike">
                        <a:solidFill>
                          <a:srgbClr val="404040"/>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3392137262"/>
                  </a:ext>
                </a:extLst>
              </a:tr>
              <a:tr h="286186">
                <a:tc vMerge="1">
                  <a:txBody>
                    <a:bodyPr/>
                    <a:lstStyle/>
                    <a:p>
                      <a:endParaRPr lang="en-IN"/>
                    </a:p>
                  </a:txBody>
                  <a:tcPr/>
                </a:tc>
                <a:tc vMerge="1">
                  <a:txBody>
                    <a:bodyPr/>
                    <a:lstStyle/>
                    <a:p>
                      <a:endParaRPr lang="en-IN"/>
                    </a:p>
                  </a:txBody>
                  <a:tcPr/>
                </a:tc>
                <a:tc>
                  <a:txBody>
                    <a:bodyPr/>
                    <a:lstStyle/>
                    <a:p>
                      <a:pPr algn="l" fontAlgn="ctr"/>
                      <a:r>
                        <a:rPr lang="en-IN" sz="900" u="none" strike="noStrike">
                          <a:effectLst/>
                        </a:rPr>
                        <a:t>- Documentation handover</a:t>
                      </a:r>
                      <a:endParaRPr lang="en-IN" sz="900" b="0" i="0" u="none" strike="noStrike">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dirty="0">
                          <a:effectLst/>
                        </a:rPr>
                        <a:t>- Support plan</a:t>
                      </a:r>
                      <a:endParaRPr lang="en-IN" sz="900" b="0" i="0" u="none" strike="noStrike" dirty="0">
                        <a:solidFill>
                          <a:srgbClr val="404040"/>
                        </a:solidFill>
                        <a:effectLst/>
                        <a:latin typeface="Segoe UI" panose="020B0502040204020203" pitchFamily="34" charset="0"/>
                      </a:endParaRPr>
                    </a:p>
                  </a:txBody>
                  <a:tcPr marL="7620" marR="7620" marT="7620" marB="0" anchor="ctr"/>
                </a:tc>
                <a:tc>
                  <a:txBody>
                    <a:bodyPr/>
                    <a:lstStyle/>
                    <a:p>
                      <a:pPr algn="l" fontAlgn="ctr"/>
                      <a:r>
                        <a:rPr lang="en-IN" sz="900" u="none" strike="noStrike" dirty="0">
                          <a:effectLst/>
                        </a:rPr>
                        <a:t> </a:t>
                      </a:r>
                      <a:endParaRPr lang="en-IN" sz="900" b="0" i="0" u="none" strike="noStrike" dirty="0">
                        <a:solidFill>
                          <a:srgbClr val="404040"/>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1105921404"/>
                  </a:ext>
                </a:extLst>
              </a:tr>
            </a:tbl>
          </a:graphicData>
        </a:graphic>
      </p:graphicFrame>
      <p:sp>
        <p:nvSpPr>
          <p:cNvPr id="7" name="TextBox 6">
            <a:extLst>
              <a:ext uri="{FF2B5EF4-FFF2-40B4-BE49-F238E27FC236}">
                <a16:creationId xmlns:a16="http://schemas.microsoft.com/office/drawing/2014/main" id="{2BA0DC4F-C0C4-1462-1C27-2454F5578B4F}"/>
              </a:ext>
            </a:extLst>
          </p:cNvPr>
          <p:cNvSpPr txBox="1"/>
          <p:nvPr/>
        </p:nvSpPr>
        <p:spPr>
          <a:xfrm>
            <a:off x="0" y="147518"/>
            <a:ext cx="7482348" cy="707886"/>
          </a:xfrm>
          <a:prstGeom prst="rect">
            <a:avLst/>
          </a:prstGeom>
          <a:noFill/>
        </p:spPr>
        <p:txBody>
          <a:bodyPr wrap="square" rtlCol="0">
            <a:spAutoFit/>
          </a:bodyPr>
          <a:lstStyle/>
          <a:p>
            <a:r>
              <a:rPr lang="en-IN" sz="2000" b="1" i="0" dirty="0">
                <a:solidFill>
                  <a:srgbClr val="404040"/>
                </a:solidFill>
                <a:effectLst/>
              </a:rPr>
              <a:t>Duration of Engagement</a:t>
            </a:r>
            <a:endParaRPr lang="en-IN" sz="2000" b="0" i="0" dirty="0">
              <a:solidFill>
                <a:srgbClr val="404040"/>
              </a:solidFill>
              <a:effectLst/>
            </a:endParaRPr>
          </a:p>
          <a:p>
            <a:endParaRPr lang="en-IN" sz="2000" dirty="0"/>
          </a:p>
        </p:txBody>
      </p:sp>
    </p:spTree>
    <p:extLst>
      <p:ext uri="{BB962C8B-B14F-4D97-AF65-F5344CB8AC3E}">
        <p14:creationId xmlns:p14="http://schemas.microsoft.com/office/powerpoint/2010/main" val="3353416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4D42D-370A-D299-D1B1-11D9A20538FA}"/>
              </a:ext>
            </a:extLst>
          </p:cNvPr>
          <p:cNvSpPr>
            <a:spLocks noGrp="1"/>
          </p:cNvSpPr>
          <p:nvPr>
            <p:ph type="title"/>
          </p:nvPr>
        </p:nvSpPr>
        <p:spPr/>
        <p:txBody>
          <a:bodyPr>
            <a:normAutofit/>
          </a:bodyPr>
          <a:lstStyle/>
          <a:p>
            <a:r>
              <a:rPr lang="en-IN" sz="2000" b="1" dirty="0">
                <a:latin typeface="+mn-lt"/>
              </a:rPr>
              <a:t>Proposed Solution Flow</a:t>
            </a:r>
          </a:p>
        </p:txBody>
      </p:sp>
      <p:graphicFrame>
        <p:nvGraphicFramePr>
          <p:cNvPr id="4" name="Content Placeholder 3">
            <a:extLst>
              <a:ext uri="{FF2B5EF4-FFF2-40B4-BE49-F238E27FC236}">
                <a16:creationId xmlns:a16="http://schemas.microsoft.com/office/drawing/2014/main" id="{90FB2233-B8B2-0754-05B9-79BC1628345E}"/>
              </a:ext>
            </a:extLst>
          </p:cNvPr>
          <p:cNvGraphicFramePr>
            <a:graphicFrameLocks noGrp="1"/>
          </p:cNvGraphicFramePr>
          <p:nvPr>
            <p:ph idx="1"/>
            <p:extLst>
              <p:ext uri="{D42A27DB-BD31-4B8C-83A1-F6EECF244321}">
                <p14:modId xmlns:p14="http://schemas.microsoft.com/office/powerpoint/2010/main" val="400292986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6514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2A743-1109-2F53-EB74-8074B50ACD39}"/>
              </a:ext>
            </a:extLst>
          </p:cNvPr>
          <p:cNvSpPr>
            <a:spLocks noGrp="1"/>
          </p:cNvSpPr>
          <p:nvPr>
            <p:ph type="title"/>
          </p:nvPr>
        </p:nvSpPr>
        <p:spPr/>
        <p:txBody>
          <a:bodyPr>
            <a:normAutofit/>
          </a:bodyPr>
          <a:lstStyle/>
          <a:p>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Plan and Execution:</a:t>
            </a:r>
            <a:br>
              <a:rPr lang="en-IN" sz="20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2000" dirty="0"/>
          </a:p>
        </p:txBody>
      </p:sp>
      <p:sp>
        <p:nvSpPr>
          <p:cNvPr id="3" name="Content Placeholder 2">
            <a:extLst>
              <a:ext uri="{FF2B5EF4-FFF2-40B4-BE49-F238E27FC236}">
                <a16:creationId xmlns:a16="http://schemas.microsoft.com/office/drawing/2014/main" id="{85CF2B23-D213-12A8-DA20-058F9FF47E1E}"/>
              </a:ext>
            </a:extLst>
          </p:cNvPr>
          <p:cNvSpPr>
            <a:spLocks noGrp="1"/>
          </p:cNvSpPr>
          <p:nvPr>
            <p:ph idx="1"/>
          </p:nvPr>
        </p:nvSpPr>
        <p:spPr>
          <a:xfrm>
            <a:off x="838200" y="1159745"/>
            <a:ext cx="10515600" cy="5201725"/>
          </a:xfrm>
        </p:spPr>
        <p:txBody>
          <a:bodyPr>
            <a:noAutofit/>
          </a:bodyPr>
          <a:lstStyle/>
          <a:p>
            <a:pPr>
              <a:lnSpc>
                <a:spcPct val="107000"/>
              </a:lnSpc>
              <a:spcAft>
                <a:spcPts val="800"/>
              </a:spcAft>
              <a:buNone/>
            </a:pPr>
            <a:r>
              <a:rPr lang="en-US" sz="1800" kern="100" dirty="0">
                <a:effectLst/>
                <a:ea typeface="Calibri" panose="020F0502020204030204" pitchFamily="34" charset="0"/>
                <a:cs typeface="Times New Roman" panose="02020603050405020304" pitchFamily="18" charset="0"/>
              </a:rPr>
              <a:t> </a:t>
            </a:r>
            <a:r>
              <a:rPr lang="en-US" sz="1800" u="sng" dirty="0"/>
              <a:t>Methodology:</a:t>
            </a:r>
          </a:p>
          <a:p>
            <a:pPr>
              <a:buFont typeface="Arial" panose="020B0604020202020204" pitchFamily="34" charset="0"/>
              <a:buChar char="•"/>
            </a:pPr>
            <a:r>
              <a:rPr lang="en-US" sz="1800" dirty="0"/>
              <a:t>Hybrid Approach: Combines Waterfall for manual digitization and Agile for web app development.</a:t>
            </a:r>
          </a:p>
          <a:p>
            <a:pPr>
              <a:buFont typeface="Arial" panose="020B0604020202020204" pitchFamily="34" charset="0"/>
              <a:buChar char="•"/>
            </a:pPr>
            <a:r>
              <a:rPr lang="en-US" sz="1800" dirty="0"/>
              <a:t>Waterfall: Sequential process for OCR and categorization to ensure accuracy.</a:t>
            </a:r>
          </a:p>
          <a:p>
            <a:pPr>
              <a:buFont typeface="Arial" panose="020B0604020202020204" pitchFamily="34" charset="0"/>
              <a:buChar char="•"/>
            </a:pPr>
            <a:r>
              <a:rPr lang="en-US" sz="1800" dirty="0"/>
              <a:t>Agile Scrum: Iterative development for the web app, enabling regular feedback and flexibility.</a:t>
            </a:r>
          </a:p>
          <a:p>
            <a:pPr>
              <a:lnSpc>
                <a:spcPct val="107000"/>
              </a:lnSpc>
              <a:spcAft>
                <a:spcPts val="800"/>
              </a:spcAft>
              <a:buNone/>
            </a:pPr>
            <a:endParaRPr lang="en-US" sz="1800" u="sng" kern="100" dirty="0">
              <a:effectLst/>
              <a:ea typeface="Calibri" panose="020F0502020204030204" pitchFamily="34" charset="0"/>
              <a:cs typeface="Times New Roman" panose="02020603050405020304" pitchFamily="18" charset="0"/>
            </a:endParaRPr>
          </a:p>
          <a:p>
            <a:pPr>
              <a:lnSpc>
                <a:spcPct val="107000"/>
              </a:lnSpc>
              <a:spcAft>
                <a:spcPts val="800"/>
              </a:spcAft>
              <a:buNone/>
            </a:pPr>
            <a:r>
              <a:rPr lang="en-US" sz="1800" u="sng" kern="100" dirty="0">
                <a:effectLst/>
                <a:ea typeface="Calibri" panose="020F0502020204030204" pitchFamily="34" charset="0"/>
                <a:cs typeface="Times New Roman" panose="02020603050405020304" pitchFamily="18" charset="0"/>
              </a:rPr>
              <a:t>Tools: </a:t>
            </a:r>
            <a:endParaRPr lang="en-IN" sz="1800" u="sng" kern="100" dirty="0">
              <a:ea typeface="Calibri" panose="020F0502020204030204" pitchFamily="34" charset="0"/>
              <a:cs typeface="Times New Roman" panose="02020603050405020304" pitchFamily="18" charset="0"/>
            </a:endParaRPr>
          </a:p>
          <a:p>
            <a:pPr>
              <a:buFont typeface="Arial" panose="020B0604020202020204" pitchFamily="34" charset="0"/>
              <a:buChar char="•"/>
            </a:pPr>
            <a:r>
              <a:rPr lang="en-US" sz="1800" dirty="0"/>
              <a:t>JIRA: For task management, sprint tracking, and backlog grooming.</a:t>
            </a:r>
          </a:p>
          <a:p>
            <a:pPr>
              <a:buFont typeface="Arial" panose="020B0604020202020204" pitchFamily="34" charset="0"/>
              <a:buChar char="•"/>
            </a:pPr>
            <a:r>
              <a:rPr lang="en-US" sz="1800" dirty="0"/>
              <a:t>Confluence: For documentation and team collaboration.</a:t>
            </a:r>
          </a:p>
          <a:p>
            <a:pPr>
              <a:buFont typeface="Arial" panose="020B0604020202020204" pitchFamily="34" charset="0"/>
              <a:buChar char="•"/>
            </a:pPr>
            <a:r>
              <a:rPr lang="en-US" sz="1800" dirty="0"/>
              <a:t>Miro: For brainstorming and wireframing.</a:t>
            </a:r>
          </a:p>
          <a:p>
            <a:pPr>
              <a:buFont typeface="Arial" panose="020B0604020202020204" pitchFamily="34" charset="0"/>
              <a:buChar char="•"/>
            </a:pPr>
            <a:r>
              <a:rPr lang="en-US" sz="1800" dirty="0"/>
              <a:t>Slack/MS Teams: For communication and daily standups.</a:t>
            </a:r>
          </a:p>
          <a:p>
            <a:pPr>
              <a:buFont typeface="Arial" panose="020B0604020202020204" pitchFamily="34" charset="0"/>
              <a:buChar char="•"/>
            </a:pPr>
            <a:r>
              <a:rPr lang="en-US" sz="1800" dirty="0"/>
              <a:t>TestRail: For test case management.</a:t>
            </a:r>
          </a:p>
          <a:p>
            <a:pPr>
              <a:buFont typeface="Arial" panose="020B0604020202020204" pitchFamily="34" charset="0"/>
              <a:buChar char="•"/>
            </a:pPr>
            <a:r>
              <a:rPr lang="en-US" sz="1800" dirty="0"/>
              <a:t>Postman: For API testing.</a:t>
            </a:r>
          </a:p>
          <a:p>
            <a:endParaRPr lang="en-IN" sz="1800" dirty="0"/>
          </a:p>
        </p:txBody>
      </p:sp>
    </p:spTree>
    <p:extLst>
      <p:ext uri="{BB962C8B-B14F-4D97-AF65-F5344CB8AC3E}">
        <p14:creationId xmlns:p14="http://schemas.microsoft.com/office/powerpoint/2010/main" val="2660376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9FA65-02DF-7AE2-0364-26325BC3C0CB}"/>
              </a:ext>
            </a:extLst>
          </p:cNvPr>
          <p:cNvSpPr>
            <a:spLocks noGrp="1"/>
          </p:cNvSpPr>
          <p:nvPr>
            <p:ph type="title"/>
          </p:nvPr>
        </p:nvSpPr>
        <p:spPr/>
        <p:txBody>
          <a:bodyPr>
            <a:normAutofit/>
          </a:bodyPr>
          <a:lstStyle/>
          <a:p>
            <a:r>
              <a:rPr lang="en-IN" sz="2000" b="1" dirty="0">
                <a:latin typeface="+mn-lt"/>
              </a:rPr>
              <a:t>Delivery management</a:t>
            </a:r>
          </a:p>
        </p:txBody>
      </p:sp>
      <p:sp>
        <p:nvSpPr>
          <p:cNvPr id="3" name="Content Placeholder 2">
            <a:extLst>
              <a:ext uri="{FF2B5EF4-FFF2-40B4-BE49-F238E27FC236}">
                <a16:creationId xmlns:a16="http://schemas.microsoft.com/office/drawing/2014/main" id="{DD39A0F6-53CC-9D46-1FEF-62699330DCB1}"/>
              </a:ext>
            </a:extLst>
          </p:cNvPr>
          <p:cNvSpPr>
            <a:spLocks noGrp="1"/>
          </p:cNvSpPr>
          <p:nvPr>
            <p:ph idx="1"/>
          </p:nvPr>
        </p:nvSpPr>
        <p:spPr>
          <a:xfrm>
            <a:off x="838200" y="1579819"/>
            <a:ext cx="10515600" cy="4351338"/>
          </a:xfrm>
        </p:spPr>
        <p:txBody>
          <a:bodyPr>
            <a:normAutofit/>
          </a:bodyPr>
          <a:lstStyle/>
          <a:p>
            <a:r>
              <a:rPr lang="en-IN" sz="1800" dirty="0"/>
              <a:t>Progress Reports: Detailed analysis of work done  and work in progress and upcoming tasks.</a:t>
            </a:r>
          </a:p>
          <a:p>
            <a:r>
              <a:rPr lang="en-IN" sz="1800" dirty="0"/>
              <a:t>Budget Tracking: Regular updates on financials.</a:t>
            </a:r>
          </a:p>
          <a:p>
            <a:r>
              <a:rPr lang="en-IN" sz="1800" dirty="0"/>
              <a:t>Quality metrics: System performance and load testing results.</a:t>
            </a:r>
          </a:p>
          <a:p>
            <a:r>
              <a:rPr lang="en-IN" sz="1800" dirty="0"/>
              <a:t>Sprint progress: A breakdown of user stories, features completed and velocity.</a:t>
            </a:r>
          </a:p>
          <a:p>
            <a:r>
              <a:rPr lang="en-IN" sz="1800" dirty="0"/>
              <a:t>Risks &amp; mitigation : Tracking and reporting of risks, impediments and planned mitigations.</a:t>
            </a:r>
          </a:p>
        </p:txBody>
      </p:sp>
    </p:spTree>
    <p:extLst>
      <p:ext uri="{BB962C8B-B14F-4D97-AF65-F5344CB8AC3E}">
        <p14:creationId xmlns:p14="http://schemas.microsoft.com/office/powerpoint/2010/main" val="3619607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2A80C-B0FD-731A-F1CF-2E4E5132A110}"/>
              </a:ext>
            </a:extLst>
          </p:cNvPr>
          <p:cNvSpPr>
            <a:spLocks noGrp="1"/>
          </p:cNvSpPr>
          <p:nvPr>
            <p:ph type="title"/>
          </p:nvPr>
        </p:nvSpPr>
        <p:spPr/>
        <p:txBody>
          <a:bodyPr>
            <a:normAutofit/>
          </a:bodyPr>
          <a:lstStyle/>
          <a:p>
            <a:r>
              <a:rPr lang="en-IN" sz="2000" b="1" dirty="0">
                <a:latin typeface="+mn-lt"/>
              </a:rPr>
              <a:t>Metrics</a:t>
            </a:r>
          </a:p>
        </p:txBody>
      </p:sp>
      <p:sp>
        <p:nvSpPr>
          <p:cNvPr id="3" name="Content Placeholder 2">
            <a:extLst>
              <a:ext uri="{FF2B5EF4-FFF2-40B4-BE49-F238E27FC236}">
                <a16:creationId xmlns:a16="http://schemas.microsoft.com/office/drawing/2014/main" id="{9D45EF50-48CC-8D10-2D27-ACB995095689}"/>
              </a:ext>
            </a:extLst>
          </p:cNvPr>
          <p:cNvSpPr>
            <a:spLocks noGrp="1"/>
          </p:cNvSpPr>
          <p:nvPr>
            <p:ph idx="1"/>
          </p:nvPr>
        </p:nvSpPr>
        <p:spPr>
          <a:xfrm>
            <a:off x="838200" y="1373341"/>
            <a:ext cx="10515600" cy="5597729"/>
          </a:xfrm>
        </p:spPr>
        <p:txBody>
          <a:bodyPr>
            <a:noAutofit/>
          </a:bodyPr>
          <a:lstStyle/>
          <a:p>
            <a:pPr>
              <a:buFont typeface="Arial" panose="020B0604020202020204" pitchFamily="34" charset="0"/>
              <a:buChar char="•"/>
            </a:pPr>
            <a:r>
              <a:rPr lang="en-US" sz="1800" u="sng" dirty="0">
                <a:latin typeface="Calibri" panose="020F0502020204030204" pitchFamily="34" charset="0"/>
                <a:ea typeface="Calibri" panose="020F0502020204030204" pitchFamily="34" charset="0"/>
                <a:cs typeface="Calibri" panose="020F0502020204030204" pitchFamily="34" charset="0"/>
              </a:rPr>
              <a:t>OCR Accuracy: </a:t>
            </a:r>
            <a:r>
              <a:rPr lang="en-US" sz="1800" dirty="0">
                <a:latin typeface="Calibri" panose="020F0502020204030204" pitchFamily="34" charset="0"/>
                <a:ea typeface="Calibri" panose="020F0502020204030204" pitchFamily="34" charset="0"/>
                <a:cs typeface="Calibri" panose="020F0502020204030204" pitchFamily="34" charset="0"/>
              </a:rPr>
              <a:t>The accuracy of the OCR processing is critical. The target accuracy should be ≥99.5% for digitized data.</a:t>
            </a:r>
          </a:p>
          <a:p>
            <a:pPr marL="742950" lvl="1"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Target: 99.5% accuracy in the OCRed text.</a:t>
            </a:r>
          </a:p>
          <a:p>
            <a:pPr marL="742950" lvl="1"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Measurement: QA team will perform checks to compare the output with the original scanned manuals.</a:t>
            </a:r>
          </a:p>
          <a:p>
            <a:pPr>
              <a:buFont typeface="Arial" panose="020B0604020202020204" pitchFamily="34" charset="0"/>
              <a:buChar char="•"/>
            </a:pPr>
            <a:r>
              <a:rPr lang="en-US" sz="1800" u="sng" dirty="0">
                <a:latin typeface="Calibri" panose="020F0502020204030204" pitchFamily="34" charset="0"/>
                <a:ea typeface="Calibri" panose="020F0502020204030204" pitchFamily="34" charset="0"/>
                <a:cs typeface="Calibri" panose="020F0502020204030204" pitchFamily="34" charset="0"/>
              </a:rPr>
              <a:t>Task Completion Rate: </a:t>
            </a:r>
            <a:r>
              <a:rPr lang="en-US" sz="1800" dirty="0">
                <a:latin typeface="Calibri" panose="020F0502020204030204" pitchFamily="34" charset="0"/>
                <a:ea typeface="Calibri" panose="020F0502020204030204" pitchFamily="34" charset="0"/>
                <a:cs typeface="Calibri" panose="020F0502020204030204" pitchFamily="34" charset="0"/>
              </a:rPr>
              <a:t>Percentage of tasks completed within the assigned timeframe.</a:t>
            </a:r>
          </a:p>
          <a:p>
            <a:pPr marL="742950" lvl="1"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Target: ≥95% of tasks completed on schedule.</a:t>
            </a:r>
          </a:p>
          <a:p>
            <a:pPr marL="742950" lvl="1"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Measurement: Weekly progress tracking by the system, available for both crew members and the Chief Engineer.</a:t>
            </a:r>
          </a:p>
          <a:p>
            <a:pPr>
              <a:buFont typeface="Arial" panose="020B0604020202020204" pitchFamily="34" charset="0"/>
              <a:buChar char="•"/>
            </a:pPr>
            <a:r>
              <a:rPr lang="en-US" sz="1800" u="sng" dirty="0">
                <a:latin typeface="Calibri" panose="020F0502020204030204" pitchFamily="34" charset="0"/>
                <a:ea typeface="Calibri" panose="020F0502020204030204" pitchFamily="34" charset="0"/>
                <a:cs typeface="Calibri" panose="020F0502020204030204" pitchFamily="34" charset="0"/>
              </a:rPr>
              <a:t>Real-Time Monitoring: </a:t>
            </a:r>
            <a:r>
              <a:rPr lang="en-US" sz="1800" dirty="0">
                <a:latin typeface="Calibri" panose="020F0502020204030204" pitchFamily="34" charset="0"/>
                <a:ea typeface="Calibri" panose="020F0502020204030204" pitchFamily="34" charset="0"/>
                <a:cs typeface="Calibri" panose="020F0502020204030204" pitchFamily="34" charset="0"/>
              </a:rPr>
              <a:t>How effectively real-time monitoring occurs for task management.</a:t>
            </a:r>
          </a:p>
          <a:p>
            <a:pPr marL="742950" lvl="1"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Target: Daily reporting on all active tasks and real-time status of each (completed, pending, overdue).</a:t>
            </a:r>
          </a:p>
          <a:p>
            <a:pPr marL="742950" lvl="1"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Measurement: Task monitoring dashboards and alerts.</a:t>
            </a:r>
          </a:p>
          <a:p>
            <a:pPr>
              <a:buFont typeface="Arial" panose="020B0604020202020204" pitchFamily="34" charset="0"/>
              <a:buChar char="•"/>
            </a:pPr>
            <a:r>
              <a:rPr lang="en-US" sz="1800" u="sng" dirty="0">
                <a:latin typeface="Calibri" panose="020F0502020204030204" pitchFamily="34" charset="0"/>
                <a:ea typeface="Calibri" panose="020F0502020204030204" pitchFamily="34" charset="0"/>
                <a:cs typeface="Calibri" panose="020F0502020204030204" pitchFamily="34" charset="0"/>
              </a:rPr>
              <a:t>Bug &amp; Issue Resolution Rate: </a:t>
            </a:r>
            <a:r>
              <a:rPr lang="en-US" sz="1800" dirty="0">
                <a:latin typeface="Calibri" panose="020F0502020204030204" pitchFamily="34" charset="0"/>
                <a:ea typeface="Calibri" panose="020F0502020204030204" pitchFamily="34" charset="0"/>
                <a:cs typeface="Calibri" panose="020F0502020204030204" pitchFamily="34" charset="0"/>
              </a:rPr>
              <a:t>Percentage of issues resolved in the sprint.</a:t>
            </a:r>
          </a:p>
          <a:p>
            <a:pPr marL="742950" lvl="1"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Target: ≥90% of reported issues fixed within the sprint cycle.</a:t>
            </a:r>
          </a:p>
          <a:p>
            <a:pPr marL="742950" lvl="1" indent="-285750">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Measurement: Issue tracking system integrated with JIRA.</a:t>
            </a:r>
          </a:p>
          <a:p>
            <a:endParaRPr lang="en-IN"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11176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D6AD0-BA3A-762C-B4D9-91ABB4874003}"/>
              </a:ext>
            </a:extLst>
          </p:cNvPr>
          <p:cNvSpPr>
            <a:spLocks noGrp="1"/>
          </p:cNvSpPr>
          <p:nvPr>
            <p:ph type="title"/>
          </p:nvPr>
        </p:nvSpPr>
        <p:spPr>
          <a:xfrm>
            <a:off x="346587" y="158648"/>
            <a:ext cx="10515600" cy="1325563"/>
          </a:xfrm>
        </p:spPr>
        <p:txBody>
          <a:bodyPr>
            <a:normAutofit/>
          </a:bodyPr>
          <a:lstStyle/>
          <a:p>
            <a:r>
              <a:rPr lang="en-IN" sz="2000" b="1" dirty="0">
                <a:latin typeface="+mn-lt"/>
              </a:rPr>
              <a:t>DBT Tools &amp; Techniques</a:t>
            </a:r>
          </a:p>
        </p:txBody>
      </p:sp>
      <p:sp>
        <p:nvSpPr>
          <p:cNvPr id="3" name="Content Placeholder 2">
            <a:extLst>
              <a:ext uri="{FF2B5EF4-FFF2-40B4-BE49-F238E27FC236}">
                <a16:creationId xmlns:a16="http://schemas.microsoft.com/office/drawing/2014/main" id="{307EB9D6-678B-0B1B-4C70-C1F674415585}"/>
              </a:ext>
            </a:extLst>
          </p:cNvPr>
          <p:cNvSpPr>
            <a:spLocks noGrp="1"/>
          </p:cNvSpPr>
          <p:nvPr>
            <p:ph idx="1"/>
          </p:nvPr>
        </p:nvSpPr>
        <p:spPr>
          <a:xfrm>
            <a:off x="226142" y="1319264"/>
            <a:ext cx="11452123" cy="5725549"/>
          </a:xfrm>
        </p:spPr>
        <p:txBody>
          <a:bodyPr>
            <a:noAutofit/>
          </a:bodyPr>
          <a:lstStyle/>
          <a:p>
            <a:pPr algn="l">
              <a:lnSpc>
                <a:spcPts val="2143"/>
              </a:lnSpc>
              <a:spcBef>
                <a:spcPts val="1029"/>
              </a:spcBef>
              <a:spcAft>
                <a:spcPts val="300"/>
              </a:spcAft>
              <a:buFont typeface="Arial" panose="020B0604020202020204" pitchFamily="34" charset="0"/>
              <a:buChar char="•"/>
            </a:pPr>
            <a:r>
              <a:rPr lang="en-IN" sz="1800" i="0" dirty="0">
                <a:solidFill>
                  <a:srgbClr val="404040"/>
                </a:solidFill>
                <a:effectLst/>
                <a:latin typeface="Calibri" panose="020F0502020204030204" pitchFamily="34" charset="0"/>
                <a:ea typeface="Calibri" panose="020F0502020204030204" pitchFamily="34" charset="0"/>
                <a:cs typeface="Calibri" panose="020F0502020204030204" pitchFamily="34" charset="0"/>
              </a:rPr>
              <a:t>Tesseract OCR + GPT-4</a:t>
            </a:r>
          </a:p>
          <a:p>
            <a:pPr marL="742950" lvl="1" indent="-285750" algn="l">
              <a:lnSpc>
                <a:spcPts val="2143"/>
              </a:lnSpc>
              <a:spcBef>
                <a:spcPts val="300"/>
              </a:spcBef>
              <a:spcAft>
                <a:spcPts val="1029"/>
              </a:spcAft>
              <a:buFont typeface="Arial" panose="020B0604020202020204" pitchFamily="34" charset="0"/>
              <a:buChar char="•"/>
            </a:pPr>
            <a:r>
              <a:rPr lang="en-IN" sz="1800" i="1" dirty="0">
                <a:solidFill>
                  <a:srgbClr val="404040"/>
                </a:solidFill>
                <a:effectLst/>
                <a:latin typeface="Calibri" panose="020F0502020204030204" pitchFamily="34" charset="0"/>
                <a:ea typeface="Calibri" panose="020F0502020204030204" pitchFamily="34" charset="0"/>
                <a:cs typeface="Calibri" panose="020F0502020204030204" pitchFamily="34" charset="0"/>
              </a:rPr>
              <a:t>Purpose:</a:t>
            </a:r>
            <a:r>
              <a:rPr lang="en-IN" sz="1800" i="0" dirty="0">
                <a:solidFill>
                  <a:srgbClr val="404040"/>
                </a:solidFill>
                <a:effectLst/>
                <a:latin typeface="Calibri" panose="020F0502020204030204" pitchFamily="34" charset="0"/>
                <a:ea typeface="Calibri" panose="020F0502020204030204" pitchFamily="34" charset="0"/>
                <a:cs typeface="Calibri" panose="020F0502020204030204" pitchFamily="34" charset="0"/>
              </a:rPr>
              <a:t> Extract text from scanned manuals with 98%+ accuracy</a:t>
            </a:r>
          </a:p>
          <a:p>
            <a:pPr marL="742950" lvl="1" indent="-285750" algn="l">
              <a:lnSpc>
                <a:spcPts val="2143"/>
              </a:lnSpc>
              <a:spcBef>
                <a:spcPts val="300"/>
              </a:spcBef>
              <a:spcAft>
                <a:spcPts val="1029"/>
              </a:spcAft>
              <a:buFont typeface="Arial" panose="020B0604020202020204" pitchFamily="34" charset="0"/>
              <a:buChar char="•"/>
            </a:pPr>
            <a:r>
              <a:rPr lang="en-IN" sz="1800" i="1" dirty="0">
                <a:solidFill>
                  <a:srgbClr val="404040"/>
                </a:solidFill>
                <a:effectLst/>
                <a:latin typeface="Calibri" panose="020F0502020204030204" pitchFamily="34" charset="0"/>
                <a:ea typeface="Calibri" panose="020F0502020204030204" pitchFamily="34" charset="0"/>
                <a:cs typeface="Calibri" panose="020F0502020204030204" pitchFamily="34" charset="0"/>
              </a:rPr>
              <a:t>AI Enhancement:</a:t>
            </a:r>
            <a:r>
              <a:rPr lang="en-IN" sz="1800" i="0" dirty="0">
                <a:solidFill>
                  <a:srgbClr val="404040"/>
                </a:solidFill>
                <a:effectLst/>
                <a:latin typeface="Calibri" panose="020F0502020204030204" pitchFamily="34" charset="0"/>
                <a:ea typeface="Calibri" panose="020F0502020204030204" pitchFamily="34" charset="0"/>
                <a:cs typeface="Calibri" panose="020F0502020204030204" pitchFamily="34" charset="0"/>
              </a:rPr>
              <a:t> Context-aware correction of technical terms</a:t>
            </a:r>
          </a:p>
          <a:p>
            <a:pPr algn="l">
              <a:lnSpc>
                <a:spcPts val="2143"/>
              </a:lnSpc>
              <a:spcBef>
                <a:spcPts val="300"/>
              </a:spcBef>
              <a:spcAft>
                <a:spcPts val="300"/>
              </a:spcAft>
              <a:buFont typeface="Arial" panose="020B0604020202020204" pitchFamily="34" charset="0"/>
              <a:buChar char="•"/>
            </a:pPr>
            <a:r>
              <a:rPr lang="en-IN" sz="1800" i="0" dirty="0">
                <a:solidFill>
                  <a:srgbClr val="404040"/>
                </a:solidFill>
                <a:effectLst/>
                <a:latin typeface="Calibri" panose="020F0502020204030204" pitchFamily="34" charset="0"/>
                <a:ea typeface="Calibri" panose="020F0502020204030204" pitchFamily="34" charset="0"/>
                <a:cs typeface="Calibri" panose="020F0502020204030204" pitchFamily="34" charset="0"/>
              </a:rPr>
              <a:t>Python Pandas</a:t>
            </a:r>
          </a:p>
          <a:p>
            <a:pPr marL="742950" lvl="1" indent="-285750" algn="l">
              <a:lnSpc>
                <a:spcPts val="2143"/>
              </a:lnSpc>
              <a:spcBef>
                <a:spcPts val="300"/>
              </a:spcBef>
              <a:spcAft>
                <a:spcPts val="1029"/>
              </a:spcAft>
              <a:buFont typeface="Arial" panose="020B0604020202020204" pitchFamily="34" charset="0"/>
              <a:buChar char="•"/>
            </a:pPr>
            <a:r>
              <a:rPr lang="en-IN" sz="1800" i="1" dirty="0">
                <a:solidFill>
                  <a:srgbClr val="404040"/>
                </a:solidFill>
                <a:effectLst/>
                <a:latin typeface="Calibri" panose="020F0502020204030204" pitchFamily="34" charset="0"/>
                <a:ea typeface="Calibri" panose="020F0502020204030204" pitchFamily="34" charset="0"/>
                <a:cs typeface="Calibri" panose="020F0502020204030204" pitchFamily="34" charset="0"/>
              </a:rPr>
              <a:t>Purpose:</a:t>
            </a:r>
            <a:r>
              <a:rPr lang="en-IN" sz="1800" i="0" dirty="0">
                <a:solidFill>
                  <a:srgbClr val="404040"/>
                </a:solidFill>
                <a:effectLst/>
                <a:latin typeface="Calibri" panose="020F0502020204030204" pitchFamily="34" charset="0"/>
                <a:ea typeface="Calibri" panose="020F0502020204030204" pitchFamily="34" charset="0"/>
                <a:cs typeface="Calibri" panose="020F0502020204030204" pitchFamily="34" charset="0"/>
              </a:rPr>
              <a:t> Structure data into Jobs/Components/Spares</a:t>
            </a:r>
          </a:p>
          <a:p>
            <a:pPr marL="742950" lvl="1" indent="-285750" algn="l">
              <a:lnSpc>
                <a:spcPts val="2143"/>
              </a:lnSpc>
              <a:spcBef>
                <a:spcPts val="300"/>
              </a:spcBef>
              <a:spcAft>
                <a:spcPts val="1029"/>
              </a:spcAft>
              <a:buFont typeface="Arial" panose="020B0604020202020204" pitchFamily="34" charset="0"/>
              <a:buChar char="•"/>
            </a:pPr>
            <a:r>
              <a:rPr lang="en-IN" sz="1800" i="1" dirty="0">
                <a:solidFill>
                  <a:srgbClr val="404040"/>
                </a:solidFill>
                <a:effectLst/>
                <a:latin typeface="Calibri" panose="020F0502020204030204" pitchFamily="34" charset="0"/>
                <a:ea typeface="Calibri" panose="020F0502020204030204" pitchFamily="34" charset="0"/>
                <a:cs typeface="Calibri" panose="020F0502020204030204" pitchFamily="34" charset="0"/>
              </a:rPr>
              <a:t>QA:</a:t>
            </a:r>
            <a:r>
              <a:rPr lang="en-IN" sz="1800" i="0" dirty="0">
                <a:solidFill>
                  <a:srgbClr val="404040"/>
                </a:solidFill>
                <a:effectLst/>
                <a:latin typeface="Calibri" panose="020F0502020204030204" pitchFamily="34" charset="0"/>
                <a:ea typeface="Calibri" panose="020F0502020204030204" pitchFamily="34" charset="0"/>
                <a:cs typeface="Calibri" panose="020F0502020204030204" pitchFamily="34" charset="0"/>
              </a:rPr>
              <a:t> Automated rule-based validation</a:t>
            </a:r>
          </a:p>
          <a:p>
            <a:pPr algn="l">
              <a:lnSpc>
                <a:spcPts val="2143"/>
              </a:lnSpc>
              <a:spcBef>
                <a:spcPts val="1372"/>
              </a:spcBef>
              <a:spcAft>
                <a:spcPts val="1029"/>
              </a:spcAft>
              <a:buFont typeface="Wingdings" panose="05000000000000000000" pitchFamily="2" charset="2"/>
              <a:buChar char="Ø"/>
            </a:pPr>
            <a:r>
              <a:rPr lang="en-IN" sz="1800" i="0" dirty="0">
                <a:solidFill>
                  <a:srgbClr val="404040"/>
                </a:solidFill>
                <a:effectLst/>
                <a:latin typeface="Calibri" panose="020F0502020204030204" pitchFamily="34" charset="0"/>
                <a:ea typeface="Calibri" panose="020F0502020204030204" pitchFamily="34" charset="0"/>
                <a:cs typeface="Calibri" panose="020F0502020204030204" pitchFamily="34" charset="0"/>
              </a:rPr>
              <a:t> Application Development</a:t>
            </a:r>
          </a:p>
          <a:p>
            <a:pPr algn="l">
              <a:lnSpc>
                <a:spcPts val="2143"/>
              </a:lnSpc>
              <a:spcBef>
                <a:spcPts val="1029"/>
              </a:spcBef>
              <a:spcAft>
                <a:spcPts val="1029"/>
              </a:spcAft>
              <a:buFont typeface="Arial" panose="020B0604020202020204" pitchFamily="34" charset="0"/>
              <a:buChar char="•"/>
            </a:pPr>
            <a:r>
              <a:rPr lang="en-IN" sz="1800" i="0" dirty="0">
                <a:solidFill>
                  <a:srgbClr val="404040"/>
                </a:solidFill>
                <a:effectLst/>
                <a:latin typeface="Calibri" panose="020F0502020204030204" pitchFamily="34" charset="0"/>
                <a:ea typeface="Calibri" panose="020F0502020204030204" pitchFamily="34" charset="0"/>
                <a:cs typeface="Calibri" panose="020F0502020204030204" pitchFamily="34" charset="0"/>
              </a:rPr>
              <a:t>Frontend: React.js (Role-based dashboards)</a:t>
            </a:r>
          </a:p>
          <a:p>
            <a:pPr algn="l">
              <a:lnSpc>
                <a:spcPts val="2143"/>
              </a:lnSpc>
              <a:spcBef>
                <a:spcPts val="300"/>
              </a:spcBef>
              <a:spcAft>
                <a:spcPts val="1029"/>
              </a:spcAft>
              <a:buFont typeface="Arial" panose="020B0604020202020204" pitchFamily="34" charset="0"/>
              <a:buChar char="•"/>
            </a:pPr>
            <a:r>
              <a:rPr lang="en-IN" sz="1800" i="0" dirty="0">
                <a:solidFill>
                  <a:srgbClr val="404040"/>
                </a:solidFill>
                <a:effectLst/>
                <a:latin typeface="Calibri" panose="020F0502020204030204" pitchFamily="34" charset="0"/>
                <a:ea typeface="Calibri" panose="020F0502020204030204" pitchFamily="34" charset="0"/>
                <a:cs typeface="Calibri" panose="020F0502020204030204" pitchFamily="34" charset="0"/>
              </a:rPr>
              <a:t>Backend: Node.js + PostgreSQL (Task management engine)</a:t>
            </a:r>
          </a:p>
          <a:p>
            <a:pPr algn="l">
              <a:lnSpc>
                <a:spcPts val="2143"/>
              </a:lnSpc>
              <a:spcBef>
                <a:spcPts val="300"/>
              </a:spcBef>
              <a:spcAft>
                <a:spcPts val="1029"/>
              </a:spcAft>
              <a:buFont typeface="Arial" panose="020B0604020202020204" pitchFamily="34" charset="0"/>
              <a:buChar char="•"/>
            </a:pPr>
            <a:r>
              <a:rPr lang="en-IN" sz="1800" i="0" dirty="0">
                <a:solidFill>
                  <a:srgbClr val="404040"/>
                </a:solidFill>
                <a:effectLst/>
                <a:latin typeface="Calibri" panose="020F0502020204030204" pitchFamily="34" charset="0"/>
                <a:ea typeface="Calibri" panose="020F0502020204030204" pitchFamily="34" charset="0"/>
                <a:cs typeface="Calibri" panose="020F0502020204030204" pitchFamily="34" charset="0"/>
              </a:rPr>
              <a:t>DevOps: Docker + AWS (Scalable deployment)</a:t>
            </a:r>
          </a:p>
        </p:txBody>
      </p:sp>
    </p:spTree>
    <p:extLst>
      <p:ext uri="{BB962C8B-B14F-4D97-AF65-F5344CB8AC3E}">
        <p14:creationId xmlns:p14="http://schemas.microsoft.com/office/powerpoint/2010/main" val="2294552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CEDD1-C054-DFF9-9C89-911F0020E440}"/>
              </a:ext>
            </a:extLst>
          </p:cNvPr>
          <p:cNvSpPr>
            <a:spLocks noGrp="1"/>
          </p:cNvSpPr>
          <p:nvPr>
            <p:ph type="title"/>
          </p:nvPr>
        </p:nvSpPr>
        <p:spPr>
          <a:xfrm>
            <a:off x="688258" y="365125"/>
            <a:ext cx="10665542" cy="4659159"/>
          </a:xfrm>
        </p:spPr>
        <p:txBody>
          <a:bodyPr>
            <a:no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Change Management Process:</a:t>
            </a:r>
            <a:br>
              <a:rPr lang="en-US" sz="2000" b="1" dirty="0">
                <a:latin typeface="Calibri" panose="020F0502020204030204" pitchFamily="34" charset="0"/>
                <a:ea typeface="Calibri" panose="020F0502020204030204" pitchFamily="34" charset="0"/>
                <a:cs typeface="Calibri" panose="020F0502020204030204" pitchFamily="34" charset="0"/>
              </a:rPr>
            </a:br>
            <a:br>
              <a:rPr lang="en-US" sz="1800" dirty="0">
                <a:latin typeface="Calibri" panose="020F0502020204030204" pitchFamily="34" charset="0"/>
                <a:ea typeface="Calibri" panose="020F0502020204030204" pitchFamily="34" charset="0"/>
                <a:cs typeface="Calibri" panose="020F0502020204030204" pitchFamily="34" charset="0"/>
              </a:rPr>
            </a:br>
            <a:r>
              <a:rPr lang="en-US" sz="1800" u="sng" dirty="0">
                <a:latin typeface="Calibri" panose="020F0502020204030204" pitchFamily="34" charset="0"/>
                <a:ea typeface="Calibri" panose="020F0502020204030204" pitchFamily="34" charset="0"/>
                <a:cs typeface="Calibri" panose="020F0502020204030204" pitchFamily="34" charset="0"/>
              </a:rPr>
              <a:t>Change Requests (CR): </a:t>
            </a:r>
            <a:r>
              <a:rPr lang="en-US" sz="1800" dirty="0">
                <a:latin typeface="Calibri" panose="020F0502020204030204" pitchFamily="34" charset="0"/>
                <a:ea typeface="Calibri" panose="020F0502020204030204" pitchFamily="34" charset="0"/>
                <a:cs typeface="Calibri" panose="020F0502020204030204" pitchFamily="34" charset="0"/>
              </a:rPr>
              <a:t>Any significant changes to scope (e.g. additional features, new manual formats, or changes in roles) must be submitted as a Change Request through JIRA.</a:t>
            </a:r>
            <a:br>
              <a:rPr lang="en-US" sz="1800" dirty="0">
                <a:latin typeface="Calibri" panose="020F0502020204030204" pitchFamily="34" charset="0"/>
                <a:ea typeface="Calibri" panose="020F0502020204030204" pitchFamily="34" charset="0"/>
                <a:cs typeface="Calibri" panose="020F0502020204030204" pitchFamily="34" charset="0"/>
              </a:rPr>
            </a:br>
            <a:br>
              <a:rPr lang="en-US" sz="1800" dirty="0">
                <a:latin typeface="Calibri" panose="020F0502020204030204" pitchFamily="34" charset="0"/>
                <a:ea typeface="Calibri" panose="020F0502020204030204" pitchFamily="34" charset="0"/>
                <a:cs typeface="Calibri" panose="020F0502020204030204" pitchFamily="34" charset="0"/>
              </a:rPr>
            </a:br>
            <a:r>
              <a:rPr lang="en-US" sz="1800" u="sng" dirty="0">
                <a:latin typeface="Calibri" panose="020F0502020204030204" pitchFamily="34" charset="0"/>
                <a:ea typeface="Calibri" panose="020F0502020204030204" pitchFamily="34" charset="0"/>
                <a:cs typeface="Calibri" panose="020F0502020204030204" pitchFamily="34" charset="0"/>
              </a:rPr>
              <a:t>Approval: </a:t>
            </a:r>
            <a:r>
              <a:rPr lang="en-US" sz="1800" dirty="0">
                <a:latin typeface="Calibri" panose="020F0502020204030204" pitchFamily="34" charset="0"/>
                <a:ea typeface="Calibri" panose="020F0502020204030204" pitchFamily="34" charset="0"/>
                <a:cs typeface="Calibri" panose="020F0502020204030204" pitchFamily="34" charset="0"/>
              </a:rPr>
              <a:t>Each CR will be reviewed by both the project management team and XYZ's key stakeholders.</a:t>
            </a:r>
            <a:br>
              <a:rPr lang="en-US" sz="1800" dirty="0">
                <a:latin typeface="Calibri" panose="020F0502020204030204" pitchFamily="34" charset="0"/>
                <a:ea typeface="Calibri" panose="020F0502020204030204" pitchFamily="34" charset="0"/>
                <a:cs typeface="Calibri" panose="020F0502020204030204" pitchFamily="34" charset="0"/>
              </a:rPr>
            </a:br>
            <a:br>
              <a:rPr lang="en-US" sz="1800" dirty="0">
                <a:latin typeface="Calibri" panose="020F0502020204030204" pitchFamily="34" charset="0"/>
                <a:ea typeface="Calibri" panose="020F0502020204030204" pitchFamily="34" charset="0"/>
                <a:cs typeface="Calibri" panose="020F0502020204030204" pitchFamily="34" charset="0"/>
              </a:rPr>
            </a:br>
            <a:r>
              <a:rPr lang="en-US" sz="1800" u="sng" dirty="0">
                <a:latin typeface="Calibri" panose="020F0502020204030204" pitchFamily="34" charset="0"/>
                <a:ea typeface="Calibri" panose="020F0502020204030204" pitchFamily="34" charset="0"/>
                <a:cs typeface="Calibri" panose="020F0502020204030204" pitchFamily="34" charset="0"/>
              </a:rPr>
              <a:t>Impact Analysis: </a:t>
            </a:r>
            <a:r>
              <a:rPr lang="en-US" sz="1800" dirty="0">
                <a:latin typeface="Calibri" panose="020F0502020204030204" pitchFamily="34" charset="0"/>
                <a:ea typeface="Calibri" panose="020F0502020204030204" pitchFamily="34" charset="0"/>
                <a:cs typeface="Calibri" panose="020F0502020204030204" pitchFamily="34" charset="0"/>
              </a:rPr>
              <a:t>An analysis will assess how the change impacts the schedule, costs, and resources.</a:t>
            </a:r>
            <a:br>
              <a:rPr lang="en-US" sz="1800" dirty="0">
                <a:latin typeface="Calibri" panose="020F0502020204030204" pitchFamily="34" charset="0"/>
                <a:ea typeface="Calibri" panose="020F0502020204030204" pitchFamily="34" charset="0"/>
                <a:cs typeface="Calibri" panose="020F0502020204030204" pitchFamily="34" charset="0"/>
              </a:rPr>
            </a:br>
            <a:br>
              <a:rPr lang="en-US" sz="1800" dirty="0">
                <a:latin typeface="Calibri" panose="020F0502020204030204" pitchFamily="34" charset="0"/>
                <a:ea typeface="Calibri" panose="020F0502020204030204" pitchFamily="34" charset="0"/>
                <a:cs typeface="Calibri" panose="020F0502020204030204" pitchFamily="34" charset="0"/>
              </a:rPr>
            </a:br>
            <a:r>
              <a:rPr lang="en-US" sz="1800" u="sng" dirty="0">
                <a:latin typeface="Calibri" panose="020F0502020204030204" pitchFamily="34" charset="0"/>
                <a:ea typeface="Calibri" panose="020F0502020204030204" pitchFamily="34" charset="0"/>
                <a:cs typeface="Calibri" panose="020F0502020204030204" pitchFamily="34" charset="0"/>
              </a:rPr>
              <a:t>Version Control: </a:t>
            </a:r>
            <a:r>
              <a:rPr lang="en-US" sz="1800" dirty="0">
                <a:latin typeface="Calibri" panose="020F0502020204030204" pitchFamily="34" charset="0"/>
                <a:ea typeface="Calibri" panose="020F0502020204030204" pitchFamily="34" charset="0"/>
                <a:cs typeface="Calibri" panose="020F0502020204030204" pitchFamily="34" charset="0"/>
              </a:rPr>
              <a:t>All changes to the codebase and system configurations will be tracked using Git, ensuring rollbacks are possible if needed.</a:t>
            </a:r>
            <a:br>
              <a:rPr lang="en-US" sz="1800" dirty="0">
                <a:latin typeface="Calibri" panose="020F0502020204030204" pitchFamily="34" charset="0"/>
                <a:ea typeface="Calibri" panose="020F0502020204030204" pitchFamily="34" charset="0"/>
                <a:cs typeface="Calibri" panose="020F0502020204030204" pitchFamily="34" charset="0"/>
              </a:rPr>
            </a:br>
            <a:br>
              <a:rPr lang="en-US" sz="1800" dirty="0">
                <a:latin typeface="Calibri" panose="020F0502020204030204" pitchFamily="34" charset="0"/>
                <a:ea typeface="Calibri" panose="020F0502020204030204" pitchFamily="34" charset="0"/>
                <a:cs typeface="Calibri" panose="020F0502020204030204" pitchFamily="34" charset="0"/>
              </a:rPr>
            </a:br>
            <a:r>
              <a:rPr lang="en-US" sz="1800" u="sng" dirty="0">
                <a:latin typeface="Calibri" panose="020F0502020204030204" pitchFamily="34" charset="0"/>
                <a:ea typeface="Calibri" panose="020F0502020204030204" pitchFamily="34" charset="0"/>
                <a:cs typeface="Calibri" panose="020F0502020204030204" pitchFamily="34" charset="0"/>
              </a:rPr>
              <a:t>Stakeholder Communication</a:t>
            </a:r>
            <a:r>
              <a:rPr lang="en-US" sz="1800" dirty="0">
                <a:latin typeface="Calibri" panose="020F0502020204030204" pitchFamily="34" charset="0"/>
                <a:ea typeface="Calibri" panose="020F0502020204030204" pitchFamily="34" charset="0"/>
                <a:cs typeface="Calibri" panose="020F0502020204030204" pitchFamily="34" charset="0"/>
              </a:rPr>
              <a:t>: Regular updates and feedback loops with the Chief Engineer and XYZ stakeholders. Communication will be handled through Slack for daily interactions and email/weekly meetings for major updates.</a:t>
            </a:r>
            <a:br>
              <a:rPr lang="en-US" sz="1800" dirty="0">
                <a:latin typeface="Calibri" panose="020F0502020204030204" pitchFamily="34" charset="0"/>
                <a:ea typeface="Calibri" panose="020F0502020204030204" pitchFamily="34" charset="0"/>
                <a:cs typeface="Calibri" panose="020F0502020204030204" pitchFamily="34" charset="0"/>
              </a:rPr>
            </a:b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3619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00DC6-E286-9C65-8534-FB8FB996037B}"/>
              </a:ext>
            </a:extLst>
          </p:cNvPr>
          <p:cNvSpPr>
            <a:spLocks noGrp="1"/>
          </p:cNvSpPr>
          <p:nvPr>
            <p:ph type="title"/>
          </p:nvPr>
        </p:nvSpPr>
        <p:spPr>
          <a:xfrm>
            <a:off x="81116" y="-155985"/>
            <a:ext cx="10515600" cy="1325563"/>
          </a:xfrm>
        </p:spPr>
        <p:txBody>
          <a:bodyPr>
            <a:normAutofit/>
          </a:bodyPr>
          <a:lstStyle/>
          <a:p>
            <a:r>
              <a:rPr lang="en-IN" sz="2000" b="1" dirty="0">
                <a:latin typeface="+mn-lt"/>
              </a:rPr>
              <a:t>Risks &amp; Mitigation plan</a:t>
            </a:r>
          </a:p>
        </p:txBody>
      </p:sp>
      <p:graphicFrame>
        <p:nvGraphicFramePr>
          <p:cNvPr id="4" name="Content Placeholder 3">
            <a:extLst>
              <a:ext uri="{FF2B5EF4-FFF2-40B4-BE49-F238E27FC236}">
                <a16:creationId xmlns:a16="http://schemas.microsoft.com/office/drawing/2014/main" id="{A4EA25C3-6FD5-8984-F81D-B60A3941640A}"/>
              </a:ext>
            </a:extLst>
          </p:cNvPr>
          <p:cNvGraphicFramePr>
            <a:graphicFrameLocks noGrp="1"/>
          </p:cNvGraphicFramePr>
          <p:nvPr>
            <p:ph idx="1"/>
            <p:extLst>
              <p:ext uri="{D42A27DB-BD31-4B8C-83A1-F6EECF244321}">
                <p14:modId xmlns:p14="http://schemas.microsoft.com/office/powerpoint/2010/main" val="1298117412"/>
              </p:ext>
            </p:extLst>
          </p:nvPr>
        </p:nvGraphicFramePr>
        <p:xfrm>
          <a:off x="0" y="727587"/>
          <a:ext cx="12192000" cy="6130412"/>
        </p:xfrm>
        <a:graphic>
          <a:graphicData uri="http://schemas.openxmlformats.org/drawingml/2006/table">
            <a:tbl>
              <a:tblPr>
                <a:tableStyleId>{5C22544A-7EE6-4342-B048-85BDC9FD1C3A}</a:tableStyleId>
              </a:tblPr>
              <a:tblGrid>
                <a:gridCol w="2236221">
                  <a:extLst>
                    <a:ext uri="{9D8B030D-6E8A-4147-A177-3AD203B41FA5}">
                      <a16:colId xmlns:a16="http://schemas.microsoft.com/office/drawing/2014/main" val="3504808202"/>
                    </a:ext>
                  </a:extLst>
                </a:gridCol>
                <a:gridCol w="2236221">
                  <a:extLst>
                    <a:ext uri="{9D8B030D-6E8A-4147-A177-3AD203B41FA5}">
                      <a16:colId xmlns:a16="http://schemas.microsoft.com/office/drawing/2014/main" val="3779390987"/>
                    </a:ext>
                  </a:extLst>
                </a:gridCol>
                <a:gridCol w="2236221">
                  <a:extLst>
                    <a:ext uri="{9D8B030D-6E8A-4147-A177-3AD203B41FA5}">
                      <a16:colId xmlns:a16="http://schemas.microsoft.com/office/drawing/2014/main" val="2534216463"/>
                    </a:ext>
                  </a:extLst>
                </a:gridCol>
                <a:gridCol w="2236221">
                  <a:extLst>
                    <a:ext uri="{9D8B030D-6E8A-4147-A177-3AD203B41FA5}">
                      <a16:colId xmlns:a16="http://schemas.microsoft.com/office/drawing/2014/main" val="420426877"/>
                    </a:ext>
                  </a:extLst>
                </a:gridCol>
                <a:gridCol w="3247116">
                  <a:extLst>
                    <a:ext uri="{9D8B030D-6E8A-4147-A177-3AD203B41FA5}">
                      <a16:colId xmlns:a16="http://schemas.microsoft.com/office/drawing/2014/main" val="3033036928"/>
                    </a:ext>
                  </a:extLst>
                </a:gridCol>
              </a:tblGrid>
              <a:tr h="279633">
                <a:tc>
                  <a:txBody>
                    <a:bodyPr/>
                    <a:lstStyle/>
                    <a:p>
                      <a:pPr algn="ctr" fontAlgn="ctr"/>
                      <a:r>
                        <a:rPr lang="en-IN" sz="700" u="none" strike="noStrike">
                          <a:effectLst/>
                        </a:rPr>
                        <a:t>Risk</a:t>
                      </a:r>
                      <a:endParaRPr lang="en-IN" sz="700" b="1"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IN" sz="700" u="none" strike="noStrike">
                          <a:effectLst/>
                        </a:rPr>
                        <a:t>Description</a:t>
                      </a:r>
                      <a:endParaRPr lang="en-IN" sz="700" b="1"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IN" sz="700" u="none" strike="noStrike">
                          <a:effectLst/>
                        </a:rPr>
                        <a:t>Impact</a:t>
                      </a:r>
                      <a:endParaRPr lang="en-IN" sz="700" b="1"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IN" sz="700" u="none" strike="noStrike">
                          <a:effectLst/>
                        </a:rPr>
                        <a:t>Likelihood</a:t>
                      </a:r>
                      <a:endParaRPr lang="en-IN" sz="700" b="1"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IN" sz="700" u="none" strike="noStrike">
                          <a:effectLst/>
                        </a:rPr>
                        <a:t>Mitigation Strategy</a:t>
                      </a:r>
                      <a:endParaRPr lang="en-IN" sz="700" b="1" i="0" u="none" strike="noStrike">
                        <a:solidFill>
                          <a:srgbClr val="000000"/>
                        </a:solidFill>
                        <a:effectLst/>
                        <a:latin typeface="Calibri" panose="020F0502020204030204" pitchFamily="34" charset="0"/>
                      </a:endParaRPr>
                    </a:p>
                  </a:txBody>
                  <a:tcPr marL="5089" marR="5089" marT="5089" marB="0" anchor="ctr"/>
                </a:tc>
                <a:extLst>
                  <a:ext uri="{0D108BD9-81ED-4DB2-BD59-A6C34878D82A}">
                    <a16:rowId xmlns:a16="http://schemas.microsoft.com/office/drawing/2014/main" val="3840099536"/>
                  </a:ext>
                </a:extLst>
              </a:tr>
              <a:tr h="1032491">
                <a:tc>
                  <a:txBody>
                    <a:bodyPr/>
                    <a:lstStyle/>
                    <a:p>
                      <a:pPr algn="ctr" fontAlgn="ctr"/>
                      <a:r>
                        <a:rPr lang="en-IN" sz="700" u="none" strike="noStrike">
                          <a:effectLst/>
                        </a:rPr>
                        <a:t>OCR Accuracy Issues</a:t>
                      </a:r>
                      <a:endParaRPr lang="en-IN" sz="700" b="1"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OCR technology may not achieve 100% accuracy, leading to misinterpreted text.</a:t>
                      </a:r>
                      <a:endParaRPr lang="en-US"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IN" sz="700" u="none" strike="noStrike">
                          <a:effectLst/>
                        </a:rPr>
                        <a:t>Misclassification of data, incorrect maintenance instructions.</a:t>
                      </a:r>
                      <a:endParaRPr lang="en-IN"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IN" sz="700" u="none" strike="noStrike">
                          <a:effectLst/>
                        </a:rPr>
                        <a:t>High</a:t>
                      </a:r>
                      <a:endParaRPr lang="en-IN"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 Dual verification process: OCR output followed by marine expert categorization. - Continuous feedback loop with marine experts. - Use robust OCR tools (Azure OCR, Tesseract) with fine-tuning options. - Test scans on a subset of documents.</a:t>
                      </a:r>
                      <a:endParaRPr lang="en-US" sz="700" b="0" i="0" u="none" strike="noStrike">
                        <a:solidFill>
                          <a:srgbClr val="000000"/>
                        </a:solidFill>
                        <a:effectLst/>
                        <a:latin typeface="Calibri" panose="020F0502020204030204" pitchFamily="34" charset="0"/>
                      </a:endParaRPr>
                    </a:p>
                  </a:txBody>
                  <a:tcPr marL="5089" marR="5089" marT="5089" marB="0" anchor="ctr"/>
                </a:tc>
                <a:extLst>
                  <a:ext uri="{0D108BD9-81ED-4DB2-BD59-A6C34878D82A}">
                    <a16:rowId xmlns:a16="http://schemas.microsoft.com/office/drawing/2014/main" val="2215541970"/>
                  </a:ext>
                </a:extLst>
              </a:tr>
              <a:tr h="688327">
                <a:tc>
                  <a:txBody>
                    <a:bodyPr/>
                    <a:lstStyle/>
                    <a:p>
                      <a:pPr algn="ctr" fontAlgn="ctr"/>
                      <a:r>
                        <a:rPr lang="en-IN" sz="700" u="none" strike="noStrike">
                          <a:effectLst/>
                        </a:rPr>
                        <a:t>Data Integrity &amp; Categorization Errors</a:t>
                      </a:r>
                      <a:endParaRPr lang="en-IN" sz="700" b="1"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Mis-categorization of tasks, components, and spares during the OCR process.</a:t>
                      </a:r>
                      <a:endParaRPr lang="en-US"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Incorrect task assignments, crew members missing vital data.</a:t>
                      </a:r>
                      <a:endParaRPr lang="en-US"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IN" sz="700" u="none" strike="noStrike">
                          <a:effectLst/>
                        </a:rPr>
                        <a:t>Medium</a:t>
                      </a:r>
                      <a:endParaRPr lang="en-IN"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 Involve marine experts in categorization review. - Standardize categorization rules. - Provide training for categorization consistency.</a:t>
                      </a:r>
                      <a:endParaRPr lang="en-US" sz="700" b="0" i="0" u="none" strike="noStrike">
                        <a:solidFill>
                          <a:srgbClr val="000000"/>
                        </a:solidFill>
                        <a:effectLst/>
                        <a:latin typeface="Calibri" panose="020F0502020204030204" pitchFamily="34" charset="0"/>
                      </a:endParaRPr>
                    </a:p>
                  </a:txBody>
                  <a:tcPr marL="5089" marR="5089" marT="5089" marB="0" anchor="ctr"/>
                </a:tc>
                <a:extLst>
                  <a:ext uri="{0D108BD9-81ED-4DB2-BD59-A6C34878D82A}">
                    <a16:rowId xmlns:a16="http://schemas.microsoft.com/office/drawing/2014/main" val="1677252089"/>
                  </a:ext>
                </a:extLst>
              </a:tr>
              <a:tr h="688327">
                <a:tc>
                  <a:txBody>
                    <a:bodyPr/>
                    <a:lstStyle/>
                    <a:p>
                      <a:pPr algn="ctr" fontAlgn="ctr"/>
                      <a:r>
                        <a:rPr lang="en-US" sz="700" u="none" strike="noStrike">
                          <a:effectLst/>
                        </a:rPr>
                        <a:t>OCR Tool Performance on Scanned Quality</a:t>
                      </a:r>
                      <a:endParaRPr lang="en-US" sz="700" b="1"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Poor scan quality affects OCR processing accuracy.</a:t>
                      </a:r>
                      <a:endParaRPr lang="en-US"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Incomplete or missing data, additional manual corrections needed.</a:t>
                      </a:r>
                      <a:endParaRPr lang="en-US"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IN" sz="700" u="none" strike="noStrike">
                          <a:effectLst/>
                        </a:rPr>
                        <a:t>Medium</a:t>
                      </a:r>
                      <a:endParaRPr lang="en-IN"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 Ensure high-quality scans (300 DPI or higher). - Pre-processing of scans to enhance quality (contrast, noise reduction). - Regular OCR performance validation with sample scans.</a:t>
                      </a:r>
                      <a:endParaRPr lang="en-US" sz="700" b="0" i="0" u="none" strike="noStrike">
                        <a:solidFill>
                          <a:srgbClr val="000000"/>
                        </a:solidFill>
                        <a:effectLst/>
                        <a:latin typeface="Calibri" panose="020F0502020204030204" pitchFamily="34" charset="0"/>
                      </a:endParaRPr>
                    </a:p>
                  </a:txBody>
                  <a:tcPr marL="5089" marR="5089" marT="5089" marB="0" anchor="ctr"/>
                </a:tc>
                <a:extLst>
                  <a:ext uri="{0D108BD9-81ED-4DB2-BD59-A6C34878D82A}">
                    <a16:rowId xmlns:a16="http://schemas.microsoft.com/office/drawing/2014/main" val="3048171040"/>
                  </a:ext>
                </a:extLst>
              </a:tr>
              <a:tr h="1032491">
                <a:tc>
                  <a:txBody>
                    <a:bodyPr/>
                    <a:lstStyle/>
                    <a:p>
                      <a:pPr algn="ctr" fontAlgn="ctr"/>
                      <a:r>
                        <a:rPr lang="en-US" sz="700" u="none" strike="noStrike">
                          <a:effectLst/>
                        </a:rPr>
                        <a:t>Role-Based Access Control (RBAC) Issues</a:t>
                      </a:r>
                      <a:endParaRPr lang="en-US" sz="700" b="1"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Improper role-based access leading to unauthorized access to tasks or data.</a:t>
                      </a:r>
                      <a:endParaRPr lang="en-US"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Security breaches, unauthorized data changes.</a:t>
                      </a:r>
                      <a:endParaRPr lang="en-US"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IN" sz="700" u="none" strike="noStrike" dirty="0">
                          <a:effectLst/>
                        </a:rPr>
                        <a:t>Medium</a:t>
                      </a:r>
                      <a:endParaRPr lang="en-IN" sz="700" b="0" i="0" u="none" strike="noStrike" dirty="0">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 Define clear role-based access early in the development cycle. - Regular code reviews focused on RBAC implementation. - Penetration testing for security validation. - UAT testing with role-based access verification.</a:t>
                      </a:r>
                      <a:endParaRPr lang="en-US" sz="700" b="0" i="0" u="none" strike="noStrike">
                        <a:solidFill>
                          <a:srgbClr val="000000"/>
                        </a:solidFill>
                        <a:effectLst/>
                        <a:latin typeface="Calibri" panose="020F0502020204030204" pitchFamily="34" charset="0"/>
                      </a:endParaRPr>
                    </a:p>
                  </a:txBody>
                  <a:tcPr marL="5089" marR="5089" marT="5089" marB="0" anchor="ctr"/>
                </a:tc>
                <a:extLst>
                  <a:ext uri="{0D108BD9-81ED-4DB2-BD59-A6C34878D82A}">
                    <a16:rowId xmlns:a16="http://schemas.microsoft.com/office/drawing/2014/main" val="3874388397"/>
                  </a:ext>
                </a:extLst>
              </a:tr>
              <a:tr h="688327">
                <a:tc>
                  <a:txBody>
                    <a:bodyPr/>
                    <a:lstStyle/>
                    <a:p>
                      <a:pPr algn="ctr" fontAlgn="ctr"/>
                      <a:r>
                        <a:rPr lang="en-IN" sz="700" u="none" strike="noStrike">
                          <a:effectLst/>
                        </a:rPr>
                        <a:t>System Performance Under Load</a:t>
                      </a:r>
                      <a:endParaRPr lang="en-IN" sz="700" b="1"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Application performance degrades under high user load.</a:t>
                      </a:r>
                      <a:endParaRPr lang="en-US"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Slow task tracking, potential delays in task updates.</a:t>
                      </a:r>
                      <a:endParaRPr lang="en-US"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IN" sz="700" u="none" strike="noStrike">
                          <a:effectLst/>
                        </a:rPr>
                        <a:t>Medium</a:t>
                      </a:r>
                      <a:endParaRPr lang="en-IN"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 Perform stress and load testing before deployment. - Use cloud-based infrastructure for scalability. - Optimize front-end and back-end code for performance.</a:t>
                      </a:r>
                      <a:endParaRPr lang="en-US" sz="700" b="0" i="0" u="none" strike="noStrike">
                        <a:solidFill>
                          <a:srgbClr val="000000"/>
                        </a:solidFill>
                        <a:effectLst/>
                        <a:latin typeface="Calibri" panose="020F0502020204030204" pitchFamily="34" charset="0"/>
                      </a:endParaRPr>
                    </a:p>
                  </a:txBody>
                  <a:tcPr marL="5089" marR="5089" marT="5089" marB="0" anchor="ctr"/>
                </a:tc>
                <a:extLst>
                  <a:ext uri="{0D108BD9-81ED-4DB2-BD59-A6C34878D82A}">
                    <a16:rowId xmlns:a16="http://schemas.microsoft.com/office/drawing/2014/main" val="2870987361"/>
                  </a:ext>
                </a:extLst>
              </a:tr>
              <a:tr h="860408">
                <a:tc>
                  <a:txBody>
                    <a:bodyPr/>
                    <a:lstStyle/>
                    <a:p>
                      <a:pPr algn="ctr" fontAlgn="ctr"/>
                      <a:r>
                        <a:rPr lang="en-IN" sz="700" u="none" strike="noStrike">
                          <a:effectLst/>
                        </a:rPr>
                        <a:t>Data Synchronization Issues</a:t>
                      </a:r>
                      <a:endParaRPr lang="en-IN" sz="700" b="1"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Failure to sync task data in low-connectivity environments.</a:t>
                      </a:r>
                      <a:endParaRPr lang="en-US"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Outdated task status, missing data for crew members.</a:t>
                      </a:r>
                      <a:endParaRPr lang="en-US"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IN" sz="700" u="none" strike="noStrike">
                          <a:effectLst/>
                        </a:rPr>
                        <a:t>High</a:t>
                      </a:r>
                      <a:endParaRPr lang="en-IN"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 Implement offline-first capabilities with auto-sync once connectivity is restored. - Use data caching and background syncing for real-time updates. - Implement conflict resolution mechanisms for data sync errors.</a:t>
                      </a:r>
                      <a:endParaRPr lang="en-US" sz="700" b="0" i="0" u="none" strike="noStrike">
                        <a:solidFill>
                          <a:srgbClr val="000000"/>
                        </a:solidFill>
                        <a:effectLst/>
                        <a:latin typeface="Calibri" panose="020F0502020204030204" pitchFamily="34" charset="0"/>
                      </a:endParaRPr>
                    </a:p>
                  </a:txBody>
                  <a:tcPr marL="5089" marR="5089" marT="5089" marB="0" anchor="ctr"/>
                </a:tc>
                <a:extLst>
                  <a:ext uri="{0D108BD9-81ED-4DB2-BD59-A6C34878D82A}">
                    <a16:rowId xmlns:a16="http://schemas.microsoft.com/office/drawing/2014/main" val="1519169123"/>
                  </a:ext>
                </a:extLst>
              </a:tr>
              <a:tr h="860408">
                <a:tc>
                  <a:txBody>
                    <a:bodyPr/>
                    <a:lstStyle/>
                    <a:p>
                      <a:pPr algn="ctr" fontAlgn="ctr"/>
                      <a:r>
                        <a:rPr lang="en-US" sz="700" u="none" strike="noStrike">
                          <a:effectLst/>
                        </a:rPr>
                        <a:t>Security Breaches and Data Privacy Concerns</a:t>
                      </a:r>
                      <a:endParaRPr lang="en-US" sz="700" b="1"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Vulnerabilities in the web app may expose sensitive data.</a:t>
                      </a:r>
                      <a:endParaRPr lang="en-US"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a:effectLst/>
                        </a:rPr>
                        <a:t>Exposure of sensitive operational data, reputational damage.</a:t>
                      </a:r>
                      <a:endParaRPr lang="en-US"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IN" sz="700" u="none" strike="noStrike">
                          <a:effectLst/>
                        </a:rPr>
                        <a:t>Low</a:t>
                      </a:r>
                      <a:endParaRPr lang="en-IN" sz="700" b="0" i="0" u="none" strike="noStrike">
                        <a:solidFill>
                          <a:srgbClr val="000000"/>
                        </a:solidFill>
                        <a:effectLst/>
                        <a:latin typeface="Calibri" panose="020F0502020204030204" pitchFamily="34" charset="0"/>
                      </a:endParaRPr>
                    </a:p>
                  </a:txBody>
                  <a:tcPr marL="5089" marR="5089" marT="5089" marB="0" anchor="ctr"/>
                </a:tc>
                <a:tc>
                  <a:txBody>
                    <a:bodyPr/>
                    <a:lstStyle/>
                    <a:p>
                      <a:pPr algn="ctr" fontAlgn="ctr"/>
                      <a:r>
                        <a:rPr lang="en-US" sz="700" u="none" strike="noStrike" dirty="0">
                          <a:effectLst/>
                        </a:rPr>
                        <a:t>- Ensure encryption of data at rest and in transit (TLS/SSL). - Regular security audits and vulnerability assessments. - Implement access control and secure authentication methods (OAuth 2.0).</a:t>
                      </a:r>
                      <a:endParaRPr lang="en-US" sz="700" b="0" i="0" u="none" strike="noStrike" dirty="0">
                        <a:solidFill>
                          <a:srgbClr val="000000"/>
                        </a:solidFill>
                        <a:effectLst/>
                        <a:latin typeface="Calibri" panose="020F0502020204030204" pitchFamily="34" charset="0"/>
                      </a:endParaRPr>
                    </a:p>
                  </a:txBody>
                  <a:tcPr marL="5089" marR="5089" marT="5089" marB="0" anchor="ctr"/>
                </a:tc>
                <a:extLst>
                  <a:ext uri="{0D108BD9-81ED-4DB2-BD59-A6C34878D82A}">
                    <a16:rowId xmlns:a16="http://schemas.microsoft.com/office/drawing/2014/main" val="2730562775"/>
                  </a:ext>
                </a:extLst>
              </a:tr>
            </a:tbl>
          </a:graphicData>
        </a:graphic>
      </p:graphicFrame>
    </p:spTree>
    <p:extLst>
      <p:ext uri="{BB962C8B-B14F-4D97-AF65-F5344CB8AC3E}">
        <p14:creationId xmlns:p14="http://schemas.microsoft.com/office/powerpoint/2010/main" val="1077526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111FD-2A8A-8440-3B51-397F7AC8AA1B}"/>
              </a:ext>
            </a:extLst>
          </p:cNvPr>
          <p:cNvSpPr>
            <a:spLocks noGrp="1"/>
          </p:cNvSpPr>
          <p:nvPr>
            <p:ph type="title"/>
          </p:nvPr>
        </p:nvSpPr>
        <p:spPr>
          <a:xfrm>
            <a:off x="759542" y="37946"/>
            <a:ext cx="10515600" cy="1325563"/>
          </a:xfrm>
        </p:spPr>
        <p:txBody>
          <a:bodyPr>
            <a:norm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Definition of done</a:t>
            </a:r>
          </a:p>
        </p:txBody>
      </p:sp>
      <p:sp>
        <p:nvSpPr>
          <p:cNvPr id="3" name="Content Placeholder 2">
            <a:extLst>
              <a:ext uri="{FF2B5EF4-FFF2-40B4-BE49-F238E27FC236}">
                <a16:creationId xmlns:a16="http://schemas.microsoft.com/office/drawing/2014/main" id="{4A63A6B0-1A1B-A35B-DE8B-799A7CBF8BA3}"/>
              </a:ext>
            </a:extLst>
          </p:cNvPr>
          <p:cNvSpPr>
            <a:spLocks noGrp="1"/>
          </p:cNvSpPr>
          <p:nvPr>
            <p:ph idx="1"/>
          </p:nvPr>
        </p:nvSpPr>
        <p:spPr>
          <a:xfrm>
            <a:off x="759542" y="1048877"/>
            <a:ext cx="10515600" cy="5361756"/>
          </a:xfrm>
        </p:spPr>
        <p:txBody>
          <a:bodyPr>
            <a:noAutofit/>
          </a:bodyPr>
          <a:lstStyle/>
          <a:p>
            <a:pPr>
              <a:buNone/>
            </a:pPr>
            <a:r>
              <a:rPr lang="en-US" sz="1600" dirty="0">
                <a:latin typeface="Calibri" panose="020F0502020204030204" pitchFamily="34" charset="0"/>
                <a:ea typeface="Calibri" panose="020F0502020204030204" pitchFamily="34" charset="0"/>
                <a:cs typeface="Calibri" panose="020F0502020204030204" pitchFamily="34" charset="0"/>
              </a:rPr>
              <a:t>For Manual Digitization:</a:t>
            </a:r>
          </a:p>
          <a:p>
            <a:pPr>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OCR Accuracy: Data Categorization</a:t>
            </a:r>
          </a:p>
          <a:p>
            <a:pPr>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QA &amp; QC Pass</a:t>
            </a:r>
          </a:p>
          <a:p>
            <a:pPr>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For Web Application Development:</a:t>
            </a:r>
          </a:p>
          <a:p>
            <a:pPr>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Frontend Development:</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User Interface (UI) must be responsive and accessible across devices.</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All role-based views must function as intended (e.g., Crew members only see their assigned tasks).</a:t>
            </a:r>
          </a:p>
          <a:p>
            <a:pPr>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Backend Development:</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APIs for task assignment, progress tracking, and reporting must be developed and tested.</a:t>
            </a:r>
          </a:p>
          <a:p>
            <a:pPr marL="742950" lvl="1"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Real-time data processing should be capable of handling high-load scenarios.</a:t>
            </a:r>
          </a:p>
          <a:p>
            <a:pPr>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Security &amp; Compliance:</a:t>
            </a:r>
          </a:p>
          <a:p>
            <a:pPr>
              <a:buNone/>
            </a:pPr>
            <a:r>
              <a:rPr lang="en-US" sz="1600" dirty="0">
                <a:latin typeface="Calibri" panose="020F0502020204030204" pitchFamily="34" charset="0"/>
                <a:ea typeface="Calibri" panose="020F0502020204030204" pitchFamily="34" charset="0"/>
                <a:cs typeface="Calibri" panose="020F0502020204030204" pitchFamily="34" charset="0"/>
              </a:rPr>
              <a:t>For Testing &amp; Deployment:</a:t>
            </a:r>
          </a:p>
          <a:p>
            <a:pPr>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Unit Testing</a:t>
            </a:r>
          </a:p>
          <a:p>
            <a:pPr>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Integration Testing</a:t>
            </a:r>
          </a:p>
          <a:p>
            <a:pPr>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UAT</a:t>
            </a:r>
          </a:p>
          <a:p>
            <a:pPr>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Code Review &amp; Documentation</a:t>
            </a:r>
          </a:p>
        </p:txBody>
      </p:sp>
    </p:spTree>
    <p:extLst>
      <p:ext uri="{BB962C8B-B14F-4D97-AF65-F5344CB8AC3E}">
        <p14:creationId xmlns:p14="http://schemas.microsoft.com/office/powerpoint/2010/main" val="2759374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DB4B8-6EA1-A5C8-6B18-A759A45315A6}"/>
              </a:ext>
            </a:extLst>
          </p:cNvPr>
          <p:cNvSpPr>
            <a:spLocks noGrp="1"/>
          </p:cNvSpPr>
          <p:nvPr>
            <p:ph type="title"/>
          </p:nvPr>
        </p:nvSpPr>
        <p:spPr>
          <a:xfrm>
            <a:off x="294969" y="-279240"/>
            <a:ext cx="10515600" cy="1325563"/>
          </a:xfrm>
        </p:spPr>
        <p:txBody>
          <a:bodyPr>
            <a:norm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Definition of Ready</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09CEB61B-5C64-F4DE-6132-E649E65F77B0}"/>
              </a:ext>
            </a:extLst>
          </p:cNvPr>
          <p:cNvSpPr>
            <a:spLocks noChangeArrowheads="1"/>
          </p:cNvSpPr>
          <p:nvPr/>
        </p:nvSpPr>
        <p:spPr bwMode="auto">
          <a:xfrm>
            <a:off x="353961" y="843677"/>
            <a:ext cx="1058934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OCR Processing: Definition of Ready (</a:t>
            </a:r>
            <a:r>
              <a:rPr kumimoji="0" lang="en-US" altLang="en-US"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DoR</a:t>
            </a: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High-resolution scans (300 DPI or higher) provided.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OCR Tool Setup: OCR tools (e.g., Azure OCR, Tesseract) configured and tested for manual formats.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 Format: Clear structure for data output (e.g., Excel, JSON).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Categorization Guidelines: Defined system for categorizing Jobs, Components, Spares.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SME Availability: Marine experts available to review and categorize data.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Test Data: Sample OCR data available for initial validation.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6" name="Rectangle 3">
            <a:extLst>
              <a:ext uri="{FF2B5EF4-FFF2-40B4-BE49-F238E27FC236}">
                <a16:creationId xmlns:a16="http://schemas.microsoft.com/office/drawing/2014/main" id="{FCBCD59C-04B9-3103-C8C4-79F54A548421}"/>
              </a:ext>
            </a:extLst>
          </p:cNvPr>
          <p:cNvSpPr>
            <a:spLocks noChangeArrowheads="1"/>
          </p:cNvSpPr>
          <p:nvPr/>
        </p:nvSpPr>
        <p:spPr bwMode="auto">
          <a:xfrm>
            <a:off x="353961" y="3221387"/>
            <a:ext cx="1012161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Web Application Development: Definition of Ready (</a:t>
            </a:r>
            <a:r>
              <a:rPr kumimoji="0" lang="en-US" altLang="en-US"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DoR</a:t>
            </a: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User Stories Defined: Well-defined user stories with clear acceptance criteria.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Wireframes &amp; Mockups: UI/UX designs and wireframes ready for development.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Role-Based Access Setup: Defined roles and permissions (e.g., Crew, Chief Engineer).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Backend Setup: APIs, database schemas, and integrations outlined and ready.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Development Environment: Tools and environment set up for coding and testing.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Security &amp; Compliance Requirements: Security protocols (e.g., OAuth 2.0, data encryption) established.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Testing Framework: Automated testing framework in place (unit tests, integration tests).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Integration Points: All integration points identified and ready for development.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Stakeholder Approval: Stakeholder feedback and approval received for initial designs and stories.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58128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B1E7A-C64D-1944-16C8-29647BEB3912}"/>
              </a:ext>
            </a:extLst>
          </p:cNvPr>
          <p:cNvSpPr>
            <a:spLocks noGrp="1"/>
          </p:cNvSpPr>
          <p:nvPr>
            <p:ph type="title"/>
          </p:nvPr>
        </p:nvSpPr>
        <p:spPr/>
        <p:txBody>
          <a:bodyPr>
            <a:normAutofit/>
          </a:bodyPr>
          <a:lstStyle/>
          <a:p>
            <a:r>
              <a:rPr lang="en-IN" sz="2000" b="1" dirty="0">
                <a:latin typeface="+mn-lt"/>
              </a:rPr>
              <a:t>Conclusion</a:t>
            </a:r>
          </a:p>
        </p:txBody>
      </p:sp>
      <p:sp>
        <p:nvSpPr>
          <p:cNvPr id="3" name="Content Placeholder 2">
            <a:extLst>
              <a:ext uri="{FF2B5EF4-FFF2-40B4-BE49-F238E27FC236}">
                <a16:creationId xmlns:a16="http://schemas.microsoft.com/office/drawing/2014/main" id="{F2C7FBE4-7714-CE47-D1FF-A586004277E3}"/>
              </a:ext>
            </a:extLst>
          </p:cNvPr>
          <p:cNvSpPr>
            <a:spLocks noGrp="1"/>
          </p:cNvSpPr>
          <p:nvPr>
            <p:ph idx="1"/>
          </p:nvPr>
        </p:nvSpPr>
        <p:spPr>
          <a:xfrm>
            <a:off x="838200" y="1510992"/>
            <a:ext cx="10515600" cy="4351338"/>
          </a:xfrm>
        </p:spPr>
        <p:txBody>
          <a:bodyPr>
            <a:normAutofit/>
          </a:bodyPr>
          <a:lstStyle/>
          <a:p>
            <a:r>
              <a:rPr lang="en-IN" sz="1800" dirty="0"/>
              <a:t>This proposal outlines a clear path for a complete revamp to digital transformation and of Globomart to make an entry to the Online ecommerce world.</a:t>
            </a:r>
          </a:p>
          <a:p>
            <a:r>
              <a:rPr lang="en-IN" sz="1800" dirty="0"/>
              <a:t>The agile approach will ensure a smooth transition of the company and its employee to adapt from offline to online business as both will be involved throughout the phases and will play a vital role in development of the platform with their feedback.</a:t>
            </a:r>
          </a:p>
          <a:p>
            <a:endParaRPr lang="en-IN" sz="1800" dirty="0"/>
          </a:p>
          <a:p>
            <a:endParaRPr lang="en-IN" sz="1800" dirty="0"/>
          </a:p>
          <a:p>
            <a:endParaRPr lang="en-IN" sz="1800" dirty="0"/>
          </a:p>
          <a:p>
            <a:pPr marL="0" indent="0" algn="ctr">
              <a:buNone/>
            </a:pPr>
            <a:r>
              <a:rPr lang="en-IN" sz="1800" b="1" dirty="0"/>
              <a:t>THANK YOU.</a:t>
            </a:r>
          </a:p>
        </p:txBody>
      </p:sp>
    </p:spTree>
    <p:extLst>
      <p:ext uri="{BB962C8B-B14F-4D97-AF65-F5344CB8AC3E}">
        <p14:creationId xmlns:p14="http://schemas.microsoft.com/office/powerpoint/2010/main" val="4076618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1887</TotalTime>
  <Words>2285</Words>
  <Application>Microsoft Office PowerPoint</Application>
  <PresentationFormat>Widescreen</PresentationFormat>
  <Paragraphs>251</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Segoe UI</vt:lpstr>
      <vt:lpstr>Wingdings</vt:lpstr>
      <vt:lpstr>Office Theme</vt:lpstr>
      <vt:lpstr>XYZ Engine Room Manual Digitization Project Plan</vt:lpstr>
      <vt:lpstr>High Level Requirements:  </vt:lpstr>
      <vt:lpstr>Business Drivers and Goals: </vt:lpstr>
      <vt:lpstr>Business and System Implications:</vt:lpstr>
      <vt:lpstr>Engagement Type &amp; Pricing Model:  </vt:lpstr>
      <vt:lpstr>PowerPoint Presentation</vt:lpstr>
      <vt:lpstr>Proposed Solution Flow</vt:lpstr>
      <vt:lpstr>Plan and Execution: </vt:lpstr>
      <vt:lpstr>Delivery management</vt:lpstr>
      <vt:lpstr>Metrics</vt:lpstr>
      <vt:lpstr>DBT Tools &amp; Techniques</vt:lpstr>
      <vt:lpstr>Change Management Process:  Change Requests (CR): Any significant changes to scope (e.g. additional features, new manual formats, or changes in roles) must be submitted as a Change Request through JIRA.  Approval: Each CR will be reviewed by both the project management team and XYZ's key stakeholders.  Impact Analysis: An analysis will assess how the change impacts the schedule, costs, and resources.  Version Control: All changes to the codebase and system configurations will be tracked using Git, ensuring rollbacks are possible if needed.  Stakeholder Communication: Regular updates and feedback loops with the Chief Engineer and XYZ stakeholders. Communication will be handled through Slack for daily interactions and email/weekly meetings for major updates. </vt:lpstr>
      <vt:lpstr>Risks &amp; Mitigation plan</vt:lpstr>
      <vt:lpstr>Definition of done</vt:lpstr>
      <vt:lpstr>Definition of Ready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neural</dc:creator>
  <cp:lastModifiedBy>neural</cp:lastModifiedBy>
  <cp:revision>5</cp:revision>
  <dcterms:created xsi:type="dcterms:W3CDTF">2025-03-28T07:54:14Z</dcterms:created>
  <dcterms:modified xsi:type="dcterms:W3CDTF">2025-05-01T10:37:02Z</dcterms:modified>
</cp:coreProperties>
</file>